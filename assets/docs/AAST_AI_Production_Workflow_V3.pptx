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60" r:id="rId4"/>
    <p:sldId id="300" r:id="rId5"/>
    <p:sldId id="263" r:id="rId6"/>
    <p:sldId id="264" r:id="rId7"/>
    <p:sldId id="265" r:id="rId8"/>
    <p:sldId id="266" r:id="rId9"/>
    <p:sldId id="269" r:id="rId10"/>
    <p:sldId id="299" r:id="rId11"/>
    <p:sldId id="271" r:id="rId12"/>
    <p:sldId id="272" r:id="rId13"/>
    <p:sldId id="273" r:id="rId14"/>
    <p:sldId id="274" r:id="rId15"/>
    <p:sldId id="278" r:id="rId16"/>
    <p:sldId id="303" r:id="rId17"/>
    <p:sldId id="275" r:id="rId18"/>
    <p:sldId id="301" r:id="rId19"/>
    <p:sldId id="277" r:id="rId20"/>
    <p:sldId id="280" r:id="rId21"/>
    <p:sldId id="281" r:id="rId22"/>
    <p:sldId id="282" r:id="rId23"/>
    <p:sldId id="283" r:id="rId24"/>
    <p:sldId id="284" r:id="rId25"/>
    <p:sldId id="302" r:id="rId26"/>
    <p:sldId id="285" r:id="rId27"/>
    <p:sldId id="286"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12"/>
    <p:restoredTop sz="94610"/>
  </p:normalViewPr>
  <p:slideViewPr>
    <p:cSldViewPr snapToGrid="0" snapToObjects="1">
      <p:cViewPr varScale="1">
        <p:scale>
          <a:sx n="129" d="100"/>
          <a:sy n="129" d="100"/>
        </p:scale>
        <p:origin x="216"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88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deck — upgraded from the 3-part workshop. Six modules, six locked artifacts.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it as a conversation, not a form. Ask the five questions out loud, in order.
1. WHY DOES IT EXIST - there is a business problem behind every film. Name it.
2. WHO - the answer is never "young people". Describe one person: what her morning looks like, what she is avoiding, what she already believes.
3. HUMAN TRUTH (insight) - something true and unspoken that the audience lives. Not a product feature.
4. THE ONE THING (proposition) - one sentence. If they remember only this, we won. Two sentences means you have not decided yet.
5. WHY BELIEVE US - the reason to believe: proof, demonstration, ingredient, price, heritage.
Only after the five: tone of voice, mandatories (logo, tagline, legal), duration and platform.
Duration is the hard constraint - it writes the shot count, the pacing and the budget. Six seconds is one idea and two shots. Thirty seconds is a story with a turn. Never treat duration as a detail you decide at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DCCA2-C58B-B3A6-97FE-F0F232253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B40A2-4712-7384-C99A-ED8CFF44C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44451-7CDB-18B8-3492-01621F5A9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C8EA6-11AE-65EB-7A3F-C6A235E79BB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33287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89EA1-B5FC-E3B8-63CB-2CE971FE3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17CCB-149C-E70A-5865-60CCB0F7D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24F0F-DB3E-044C-C844-E60E8CFF4C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292659-99A9-4C23-89A1-3C040BB09FA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18262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use the smallest tool that fixes the problem.
01 UPSCALE - the frame is correct and well composed, it is only soft or low resolution. Never re-generate a frame you already approved.
02 INPAINT - a hand, a label, a small object. Repaint that region only and keep the rest of the image untouched.
03 OUTPAINT - the composition is right but you need more room. Extend the canvas instead of starting again.
04 NEW REFERENCE - the identity drifted: the face, the outfit or the product is not the same. Strengthen the reference image; do not just rewrite the description, because text does not enforce identity.
05 REGENERATE - only when the frame is wrong at every level. It costs the most time and the most credits, and it throws away everything the previous attempt got right.
Ask the class: which step would you have used yesterday? Almost everyone answers 05.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2166F-7B71-FB59-42D6-09DFA92DB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AA1C8-9239-7952-3AAA-AB0EDD0F1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E370F-AAC4-D595-2641-4BFDBF3099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2040DD-10AD-8B38-99AC-186E6EB1513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382073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1234440"/>
            <a:ext cx="6583680" cy="1737360"/>
          </a:xfrm>
          <a:prstGeom prst="rect">
            <a:avLst/>
          </a:prstGeom>
          <a:noFill/>
          <a:ln/>
        </p:spPr>
        <p:txBody>
          <a:bodyPr wrap="square" lIns="0" tIns="0" rIns="0" bIns="0" rtlCol="0" anchor="t"/>
          <a:lstStyle/>
          <a:p>
            <a:pPr marL="0" indent="0">
              <a:lnSpc>
                <a:spcPts val="4600"/>
              </a:lnSpc>
              <a:buNone/>
            </a:pPr>
            <a:r>
              <a:rPr lang="en-US" sz="4600" b="1" dirty="0">
                <a:solidFill>
                  <a:srgbClr val="FFFFFF"/>
                </a:solidFill>
                <a:latin typeface="Arial" pitchFamily="34" charset="0"/>
                <a:ea typeface="Arial" pitchFamily="34" charset="-122"/>
                <a:cs typeface="Arial" pitchFamily="34" charset="-120"/>
              </a:rPr>
              <a:t>AI PRODUCTION</a:t>
            </a:r>
            <a:endParaRPr lang="en-US" sz="4600" dirty="0"/>
          </a:p>
          <a:p>
            <a:pPr marL="0" indent="0">
              <a:lnSpc>
                <a:spcPts val="4600"/>
              </a:lnSpc>
              <a:buNone/>
            </a:pPr>
            <a:r>
              <a:rPr lang="en-US" sz="4600" b="1" dirty="0">
                <a:solidFill>
                  <a:srgbClr val="FFFFFF"/>
                </a:solidFill>
                <a:latin typeface="Arial" pitchFamily="34" charset="0"/>
                <a:ea typeface="Arial" pitchFamily="34" charset="-122"/>
                <a:cs typeface="Arial" pitchFamily="34" charset="-120"/>
              </a:rPr>
              <a:t>WORKFLOW</a:t>
            </a:r>
            <a:endParaRPr lang="en-US" sz="4600" dirty="0"/>
          </a:p>
        </p:txBody>
      </p:sp>
      <p:sp>
        <p:nvSpPr>
          <p:cNvPr id="3" name="Text 1"/>
          <p:cNvSpPr/>
          <p:nvPr/>
        </p:nvSpPr>
        <p:spPr>
          <a:xfrm>
            <a:off x="457200" y="3063240"/>
            <a:ext cx="7315200" cy="274320"/>
          </a:xfrm>
          <a:prstGeom prst="rect">
            <a:avLst/>
          </a:prstGeom>
          <a:noFill/>
          <a:ln/>
        </p:spPr>
        <p:txBody>
          <a:bodyPr wrap="square" lIns="0" tIns="0" rIns="0" bIns="0" rtlCol="0" anchor="ctr"/>
          <a:lstStyle/>
          <a:p>
            <a:pPr marL="0" indent="0">
              <a:buNone/>
            </a:pPr>
            <a:r>
              <a:rPr lang="en-US" sz="1200" b="1" kern="0" spc="100" dirty="0">
                <a:solidFill>
                  <a:srgbClr val="FF3B00"/>
                </a:solidFill>
                <a:latin typeface="Arial" pitchFamily="34" charset="0"/>
                <a:ea typeface="Arial" pitchFamily="34" charset="-122"/>
                <a:cs typeface="Arial" pitchFamily="34" charset="-120"/>
              </a:rPr>
              <a:t>FROM BRIEF TO DELIVERY — THE FULL COMMERCIAL PIPELINE</a:t>
            </a:r>
            <a:endParaRPr lang="en-US" sz="1200" dirty="0"/>
          </a:p>
        </p:txBody>
      </p:sp>
      <p:sp>
        <p:nvSpPr>
          <p:cNvPr id="4" name="Text 2"/>
          <p:cNvSpPr/>
          <p:nvPr/>
        </p:nvSpPr>
        <p:spPr>
          <a:xfrm>
            <a:off x="457200" y="3977640"/>
            <a:ext cx="5486400" cy="640080"/>
          </a:xfrm>
          <a:prstGeom prst="rect">
            <a:avLst/>
          </a:prstGeom>
          <a:noFill/>
          <a:ln/>
        </p:spPr>
        <p:txBody>
          <a:bodyPr wrap="square" lIns="0" tIns="0" rIns="0" bIns="0" rtlCol="0" anchor="ctr"/>
          <a:lstStyle/>
          <a:p>
            <a:pPr marL="0" indent="0">
              <a:lnSpc>
                <a:spcPts val="1600"/>
              </a:lnSpc>
              <a:buNone/>
            </a:pPr>
            <a:r>
              <a:rPr lang="en-US" sz="1100" dirty="0">
                <a:solidFill>
                  <a:srgbClr val="8C8C8C"/>
                </a:solidFill>
                <a:latin typeface="Arial" pitchFamily="34" charset="0"/>
                <a:ea typeface="Arial" pitchFamily="34" charset="-122"/>
                <a:cs typeface="Arial" pitchFamily="34" charset="-120"/>
              </a:rPr>
              <a:t>Arab Academy for Science, Technology &amp; Maritime Transport</a:t>
            </a:r>
            <a:endParaRPr lang="en-US" sz="1100" dirty="0"/>
          </a:p>
          <a:p>
            <a:pPr marL="0" indent="0">
              <a:lnSpc>
                <a:spcPts val="1600"/>
              </a:lnSpc>
              <a:buNone/>
            </a:pPr>
            <a:r>
              <a:rPr lang="en-US" sz="1100" dirty="0">
                <a:solidFill>
                  <a:srgbClr val="8C8C8C"/>
                </a:solidFill>
                <a:latin typeface="Arial" pitchFamily="34" charset="0"/>
                <a:ea typeface="Arial" pitchFamily="34" charset="-122"/>
                <a:cs typeface="Arial" pitchFamily="34" charset="-120"/>
              </a:rPr>
              <a:t>Media Management Department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8229600" cy="201168"/>
          </a:xfrm>
          <a:prstGeom prst="rect">
            <a:avLst/>
          </a:prstGeom>
          <a:noFill/>
          <a:ln/>
        </p:spPr>
        <p:txBody>
          <a:bodyPr wrap="square" lIns="0" tIns="0" rIns="0" bIns="0" rtlCol="0" anchor="ctr"/>
          <a:lstStyle/>
          <a:p>
            <a:pPr marL="0" indent="0">
              <a:buNone/>
            </a:pPr>
            <a:r>
              <a:rPr lang="en-US" sz="1000" b="1" kern="0" spc="200" dirty="0">
                <a:solidFill>
                  <a:srgbClr val="8C8C8C"/>
                </a:solidFill>
                <a:latin typeface="Arial" pitchFamily="34" charset="0"/>
                <a:ea typeface="Arial" pitchFamily="34" charset="-122"/>
                <a:cs typeface="Arial" pitchFamily="34" charset="-120"/>
              </a:rPr>
              <a:t>COURSE MAP</a:t>
            </a:r>
            <a:endParaRPr lang="en-US" sz="1000" dirty="0"/>
          </a:p>
        </p:txBody>
      </p:sp>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PIPELINE</a:t>
            </a:r>
            <a:endParaRPr lang="en-US" sz="3000" dirty="0"/>
          </a:p>
        </p:txBody>
      </p:sp>
      <p:sp>
        <p:nvSpPr>
          <p:cNvPr id="4" name="Shape 2"/>
          <p:cNvSpPr/>
          <p:nvPr/>
        </p:nvSpPr>
        <p:spPr>
          <a:xfrm>
            <a:off x="457200" y="1435608"/>
            <a:ext cx="1335024" cy="1051560"/>
          </a:xfrm>
          <a:prstGeom prst="roundRect">
            <a:avLst>
              <a:gd name="adj" fmla="val 7826"/>
            </a:avLst>
          </a:prstGeom>
          <a:solidFill>
            <a:srgbClr val="FF3B00"/>
          </a:solidFill>
          <a:ln/>
        </p:spPr>
        <p:txBody>
          <a:bodyPr/>
          <a:lstStyle/>
          <a:p>
            <a:endParaRPr lang="en-EG"/>
          </a:p>
        </p:txBody>
      </p:sp>
      <p:sp>
        <p:nvSpPr>
          <p:cNvPr id="5" name="Text 3"/>
          <p:cNvSpPr/>
          <p:nvPr/>
        </p:nvSpPr>
        <p:spPr>
          <a:xfrm>
            <a:off x="603504" y="1508760"/>
            <a:ext cx="548640" cy="18288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6" name="Text 4"/>
          <p:cNvSpPr/>
          <p:nvPr/>
        </p:nvSpPr>
        <p:spPr>
          <a:xfrm>
            <a:off x="603504" y="1700784"/>
            <a:ext cx="1042416" cy="713232"/>
          </a:xfrm>
          <a:prstGeom prst="rect">
            <a:avLst/>
          </a:prstGeom>
          <a:noFill/>
          <a:ln/>
        </p:spPr>
        <p:txBody>
          <a:bodyPr wrap="square" lIns="0" tIns="0" rIns="0" bIns="0" rtlCol="0" anchor="t"/>
          <a:lstStyle/>
          <a:p>
            <a:pPr marL="0" indent="0">
              <a:buNone/>
            </a:pPr>
            <a:r>
              <a:rPr lang="en-US" sz="900" b="1" dirty="0">
                <a:solidFill>
                  <a:srgbClr val="FFFFFF"/>
                </a:solidFill>
                <a:latin typeface="Arial" pitchFamily="34" charset="0"/>
                <a:ea typeface="Arial" pitchFamily="34" charset="-122"/>
                <a:cs typeface="Arial" pitchFamily="34" charset="-120"/>
              </a:rPr>
              <a:t>BRIEF &amp;</a:t>
            </a:r>
            <a:endParaRPr lang="en-US" sz="900" dirty="0"/>
          </a:p>
          <a:p>
            <a:pPr marL="0" indent="0">
              <a:buNone/>
            </a:pPr>
            <a:r>
              <a:rPr lang="en-US" sz="900" b="1" dirty="0">
                <a:solidFill>
                  <a:srgbClr val="FFFFFF"/>
                </a:solidFill>
                <a:latin typeface="Arial" pitchFamily="34" charset="0"/>
                <a:ea typeface="Arial" pitchFamily="34" charset="-122"/>
                <a:cs typeface="Arial" pitchFamily="34" charset="-120"/>
              </a:rPr>
              <a:t>STRATEGY</a:t>
            </a:r>
            <a:endParaRPr lang="en-US" sz="900" dirty="0"/>
          </a:p>
        </p:txBody>
      </p:sp>
      <p:sp>
        <p:nvSpPr>
          <p:cNvPr id="7" name="Shape 5"/>
          <p:cNvSpPr/>
          <p:nvPr/>
        </p:nvSpPr>
        <p:spPr>
          <a:xfrm>
            <a:off x="1848917" y="1435608"/>
            <a:ext cx="1335024" cy="1051560"/>
          </a:xfrm>
          <a:prstGeom prst="roundRect">
            <a:avLst>
              <a:gd name="adj" fmla="val 7826"/>
            </a:avLst>
          </a:prstGeom>
          <a:solidFill>
            <a:srgbClr val="0A0A0A"/>
          </a:solidFill>
          <a:ln/>
        </p:spPr>
        <p:txBody>
          <a:bodyPr/>
          <a:lstStyle/>
          <a:p>
            <a:endParaRPr lang="en-EG"/>
          </a:p>
        </p:txBody>
      </p:sp>
      <p:sp>
        <p:nvSpPr>
          <p:cNvPr id="8" name="Text 6"/>
          <p:cNvSpPr/>
          <p:nvPr/>
        </p:nvSpPr>
        <p:spPr>
          <a:xfrm>
            <a:off x="1995221" y="1508760"/>
            <a:ext cx="548640" cy="18288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9" name="Text 7"/>
          <p:cNvSpPr/>
          <p:nvPr/>
        </p:nvSpPr>
        <p:spPr>
          <a:xfrm>
            <a:off x="1995221" y="1700784"/>
            <a:ext cx="1042416" cy="713232"/>
          </a:xfrm>
          <a:prstGeom prst="rect">
            <a:avLst/>
          </a:prstGeom>
          <a:noFill/>
          <a:ln/>
        </p:spPr>
        <p:txBody>
          <a:bodyPr wrap="square" lIns="0" tIns="0" rIns="0" bIns="0" rtlCol="0" anchor="t"/>
          <a:lstStyle/>
          <a:p>
            <a:pPr marL="0" indent="0">
              <a:buNone/>
            </a:pPr>
            <a:r>
              <a:rPr lang="en-US" sz="900" b="1" dirty="0">
                <a:solidFill>
                  <a:srgbClr val="FFFFFF"/>
                </a:solidFill>
                <a:latin typeface="Arial" pitchFamily="34" charset="0"/>
                <a:ea typeface="Arial" pitchFamily="34" charset="-122"/>
                <a:cs typeface="Arial" pitchFamily="34" charset="-120"/>
              </a:rPr>
              <a:t>PRE-</a:t>
            </a:r>
            <a:endParaRPr lang="en-US" sz="900" dirty="0"/>
          </a:p>
          <a:p>
            <a:pPr marL="0" indent="0">
              <a:buNone/>
            </a:pPr>
            <a:r>
              <a:rPr lang="en-US" sz="900" b="1" dirty="0">
                <a:solidFill>
                  <a:srgbClr val="FFFFFF"/>
                </a:solidFill>
                <a:latin typeface="Arial" pitchFamily="34" charset="0"/>
                <a:ea typeface="Arial" pitchFamily="34" charset="-122"/>
                <a:cs typeface="Arial" pitchFamily="34" charset="-120"/>
              </a:rPr>
              <a:t>VISUALIZATION</a:t>
            </a:r>
            <a:endParaRPr lang="en-US" sz="900" dirty="0"/>
          </a:p>
        </p:txBody>
      </p:sp>
      <p:sp>
        <p:nvSpPr>
          <p:cNvPr id="10" name="Shape 8"/>
          <p:cNvSpPr/>
          <p:nvPr/>
        </p:nvSpPr>
        <p:spPr>
          <a:xfrm>
            <a:off x="3240634" y="1435608"/>
            <a:ext cx="1335024" cy="1051560"/>
          </a:xfrm>
          <a:prstGeom prst="roundRect">
            <a:avLst>
              <a:gd name="adj" fmla="val 7826"/>
            </a:avLst>
          </a:prstGeom>
          <a:solidFill>
            <a:srgbClr val="0A0A0A"/>
          </a:solidFill>
          <a:ln/>
        </p:spPr>
        <p:txBody>
          <a:bodyPr/>
          <a:lstStyle/>
          <a:p>
            <a:endParaRPr lang="en-EG"/>
          </a:p>
        </p:txBody>
      </p:sp>
      <p:sp>
        <p:nvSpPr>
          <p:cNvPr id="11" name="Text 9"/>
          <p:cNvSpPr/>
          <p:nvPr/>
        </p:nvSpPr>
        <p:spPr>
          <a:xfrm>
            <a:off x="3386938" y="1508760"/>
            <a:ext cx="548640" cy="18288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2" name="Text 10"/>
          <p:cNvSpPr/>
          <p:nvPr/>
        </p:nvSpPr>
        <p:spPr>
          <a:xfrm>
            <a:off x="3386938" y="1700784"/>
            <a:ext cx="1042416" cy="713232"/>
          </a:xfrm>
          <a:prstGeom prst="rect">
            <a:avLst/>
          </a:prstGeom>
          <a:noFill/>
          <a:ln/>
        </p:spPr>
        <p:txBody>
          <a:bodyPr wrap="square" lIns="0" tIns="0" rIns="0" bIns="0" rtlCol="0" anchor="t"/>
          <a:lstStyle/>
          <a:p>
            <a:pPr marL="0" indent="0">
              <a:buNone/>
            </a:pPr>
            <a:r>
              <a:rPr lang="en-US" sz="900" b="1" dirty="0">
                <a:solidFill>
                  <a:srgbClr val="FFFFFF"/>
                </a:solidFill>
                <a:latin typeface="Arial" pitchFamily="34" charset="0"/>
                <a:ea typeface="Arial" pitchFamily="34" charset="-122"/>
                <a:cs typeface="Arial" pitchFamily="34" charset="-120"/>
              </a:rPr>
              <a:t>VISUAL</a:t>
            </a:r>
            <a:endParaRPr lang="en-US" sz="900" dirty="0"/>
          </a:p>
          <a:p>
            <a:pPr marL="0" indent="0">
              <a:buNone/>
            </a:pPr>
            <a:r>
              <a:rPr lang="en-US" sz="900" b="1" dirty="0">
                <a:solidFill>
                  <a:srgbClr val="FFFFFF"/>
                </a:solidFill>
                <a:latin typeface="Arial" pitchFamily="34" charset="0"/>
                <a:ea typeface="Arial" pitchFamily="34" charset="-122"/>
                <a:cs typeface="Arial" pitchFamily="34" charset="-120"/>
              </a:rPr>
              <a:t>CRAFTING</a:t>
            </a:r>
            <a:endParaRPr lang="en-US" sz="900" dirty="0"/>
          </a:p>
        </p:txBody>
      </p:sp>
      <p:sp>
        <p:nvSpPr>
          <p:cNvPr id="13" name="Shape 11"/>
          <p:cNvSpPr/>
          <p:nvPr/>
        </p:nvSpPr>
        <p:spPr>
          <a:xfrm>
            <a:off x="4632350" y="1435608"/>
            <a:ext cx="1335024" cy="1051560"/>
          </a:xfrm>
          <a:prstGeom prst="roundRect">
            <a:avLst>
              <a:gd name="adj" fmla="val 7826"/>
            </a:avLst>
          </a:prstGeom>
          <a:solidFill>
            <a:srgbClr val="0A0A0A"/>
          </a:solidFill>
          <a:ln/>
        </p:spPr>
        <p:txBody>
          <a:bodyPr/>
          <a:lstStyle/>
          <a:p>
            <a:endParaRPr lang="en-EG"/>
          </a:p>
        </p:txBody>
      </p:sp>
      <p:sp>
        <p:nvSpPr>
          <p:cNvPr id="14" name="Text 12"/>
          <p:cNvSpPr/>
          <p:nvPr/>
        </p:nvSpPr>
        <p:spPr>
          <a:xfrm>
            <a:off x="4778654" y="1508760"/>
            <a:ext cx="548640" cy="18288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15" name="Text 13"/>
          <p:cNvSpPr/>
          <p:nvPr/>
        </p:nvSpPr>
        <p:spPr>
          <a:xfrm>
            <a:off x="4778654" y="1700784"/>
            <a:ext cx="1042416" cy="713232"/>
          </a:xfrm>
          <a:prstGeom prst="rect">
            <a:avLst/>
          </a:prstGeom>
          <a:noFill/>
          <a:ln/>
        </p:spPr>
        <p:txBody>
          <a:bodyPr wrap="square" lIns="0" tIns="0" rIns="0" bIns="0" rtlCol="0" anchor="t"/>
          <a:lstStyle/>
          <a:p>
            <a:pPr marL="0" indent="0">
              <a:buNone/>
            </a:pPr>
            <a:r>
              <a:rPr lang="en-US" sz="900" b="1" dirty="0">
                <a:solidFill>
                  <a:srgbClr val="FFFFFF"/>
                </a:solidFill>
                <a:latin typeface="Arial" pitchFamily="34" charset="0"/>
                <a:ea typeface="Arial" pitchFamily="34" charset="-122"/>
                <a:cs typeface="Arial" pitchFamily="34" charset="-120"/>
              </a:rPr>
              <a:t>MOTION</a:t>
            </a:r>
            <a:endParaRPr lang="en-US" sz="900" dirty="0"/>
          </a:p>
          <a:p>
            <a:pPr marL="0" indent="0">
              <a:buNone/>
            </a:pPr>
            <a:r>
              <a:rPr lang="en-US" sz="900" b="1" dirty="0">
                <a:solidFill>
                  <a:srgbClr val="FFFFFF"/>
                </a:solidFill>
                <a:latin typeface="Arial" pitchFamily="34" charset="0"/>
                <a:ea typeface="Arial" pitchFamily="34" charset="-122"/>
                <a:cs typeface="Arial" pitchFamily="34" charset="-120"/>
              </a:rPr>
              <a:t>ORCHESTRATION</a:t>
            </a:r>
            <a:endParaRPr lang="en-US" sz="900" dirty="0"/>
          </a:p>
        </p:txBody>
      </p:sp>
      <p:sp>
        <p:nvSpPr>
          <p:cNvPr id="19" name="Shape 17"/>
          <p:cNvSpPr/>
          <p:nvPr/>
        </p:nvSpPr>
        <p:spPr>
          <a:xfrm>
            <a:off x="6113678" y="1435608"/>
            <a:ext cx="1335024" cy="1051560"/>
          </a:xfrm>
          <a:prstGeom prst="roundRect">
            <a:avLst>
              <a:gd name="adj" fmla="val 7826"/>
            </a:avLst>
          </a:prstGeom>
          <a:solidFill>
            <a:srgbClr val="FF3B00"/>
          </a:solidFill>
          <a:ln/>
        </p:spPr>
        <p:txBody>
          <a:bodyPr/>
          <a:lstStyle/>
          <a:p>
            <a:endParaRPr lang="en-EG"/>
          </a:p>
        </p:txBody>
      </p:sp>
      <p:sp>
        <p:nvSpPr>
          <p:cNvPr id="20" name="Text 18"/>
          <p:cNvSpPr/>
          <p:nvPr/>
        </p:nvSpPr>
        <p:spPr>
          <a:xfrm>
            <a:off x="6259982" y="1508760"/>
            <a:ext cx="548640" cy="18288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1" name="Text 19"/>
          <p:cNvSpPr/>
          <p:nvPr/>
        </p:nvSpPr>
        <p:spPr>
          <a:xfrm>
            <a:off x="6259982" y="1700784"/>
            <a:ext cx="1042416" cy="713232"/>
          </a:xfrm>
          <a:prstGeom prst="rect">
            <a:avLst/>
          </a:prstGeom>
          <a:noFill/>
          <a:ln/>
        </p:spPr>
        <p:txBody>
          <a:bodyPr wrap="square" lIns="0" tIns="0" rIns="0" bIns="0" rtlCol="0" anchor="t"/>
          <a:lstStyle/>
          <a:p>
            <a:pPr marL="0" indent="0">
              <a:buNone/>
            </a:pPr>
            <a:endParaRPr lang="en-US" sz="900" dirty="0"/>
          </a:p>
          <a:p>
            <a:r>
              <a:rPr lang="en-US" sz="900" b="1" dirty="0">
                <a:solidFill>
                  <a:srgbClr val="FFFFFF"/>
                </a:solidFill>
                <a:latin typeface="Arial" pitchFamily="34" charset="0"/>
                <a:ea typeface="Arial" pitchFamily="34" charset="-122"/>
                <a:cs typeface="Arial" pitchFamily="34" charset="-120"/>
              </a:rPr>
              <a:t>COLLECT</a:t>
            </a:r>
          </a:p>
          <a:p>
            <a:r>
              <a:rPr lang="en-US" sz="900" b="1" dirty="0">
                <a:solidFill>
                  <a:srgbClr val="FFFFFF"/>
                </a:solidFill>
                <a:latin typeface="Arial" pitchFamily="34" charset="0"/>
                <a:ea typeface="Arial" pitchFamily="34" charset="-122"/>
                <a:cs typeface="Arial" pitchFamily="34" charset="-120"/>
              </a:rPr>
              <a:t>&amp; DELIVERY</a:t>
            </a:r>
            <a:endParaRPr lang="en-US" sz="900" dirty="0"/>
          </a:p>
        </p:txBody>
      </p:sp>
      <p:sp>
        <p:nvSpPr>
          <p:cNvPr id="22" name="Text 20"/>
          <p:cNvSpPr/>
          <p:nvPr/>
        </p:nvSpPr>
        <p:spPr>
          <a:xfrm>
            <a:off x="457200" y="2542032"/>
            <a:ext cx="1335024" cy="201168"/>
          </a:xfrm>
          <a:prstGeom prst="rect">
            <a:avLst/>
          </a:prstGeom>
          <a:noFill/>
          <a:ln/>
        </p:spPr>
        <p:txBody>
          <a:bodyPr wrap="square" lIns="0" tIns="0" rIns="0" bIns="0" rtlCol="0" anchor="ctr"/>
          <a:lstStyle/>
          <a:p>
            <a:pPr marL="0" indent="0" algn="ctr">
              <a:buNone/>
            </a:pPr>
            <a:r>
              <a:rPr lang="en-US" sz="1200" dirty="0">
                <a:solidFill>
                  <a:srgbClr val="8C8C8C"/>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457200" y="2761488"/>
            <a:ext cx="1335024" cy="548640"/>
          </a:xfrm>
          <a:prstGeom prst="rect">
            <a:avLst/>
          </a:prstGeom>
          <a:noFill/>
          <a:ln/>
        </p:spPr>
        <p:txBody>
          <a:bodyPr wrap="square" lIns="0" tIns="0" rIns="0" bIns="0" rtlCol="0" anchor="t"/>
          <a:lstStyle/>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Creative</a:t>
            </a:r>
            <a:endParaRPr lang="en-US" sz="950" dirty="0"/>
          </a:p>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Platform</a:t>
            </a:r>
            <a:endParaRPr lang="en-US" sz="950" dirty="0"/>
          </a:p>
        </p:txBody>
      </p:sp>
      <p:sp>
        <p:nvSpPr>
          <p:cNvPr id="24" name="Text 22"/>
          <p:cNvSpPr/>
          <p:nvPr/>
        </p:nvSpPr>
        <p:spPr>
          <a:xfrm>
            <a:off x="1848917" y="2542032"/>
            <a:ext cx="1335024" cy="201168"/>
          </a:xfrm>
          <a:prstGeom prst="rect">
            <a:avLst/>
          </a:prstGeom>
          <a:noFill/>
          <a:ln/>
        </p:spPr>
        <p:txBody>
          <a:bodyPr wrap="square" lIns="0" tIns="0" rIns="0" bIns="0" rtlCol="0" anchor="ctr"/>
          <a:lstStyle/>
          <a:p>
            <a:pPr marL="0" indent="0" algn="ctr">
              <a:buNone/>
            </a:pPr>
            <a:r>
              <a:rPr lang="en-US" sz="1200" dirty="0">
                <a:solidFill>
                  <a:srgbClr val="8C8C8C"/>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1848917" y="2761488"/>
            <a:ext cx="1335024" cy="548640"/>
          </a:xfrm>
          <a:prstGeom prst="rect">
            <a:avLst/>
          </a:prstGeom>
          <a:noFill/>
          <a:ln/>
        </p:spPr>
        <p:txBody>
          <a:bodyPr wrap="square" lIns="0" tIns="0" rIns="0" bIns="0" rtlCol="0" anchor="t"/>
          <a:lstStyle/>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Approved</a:t>
            </a:r>
            <a:endParaRPr lang="en-US" sz="950" dirty="0"/>
          </a:p>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Storyboard</a:t>
            </a:r>
            <a:endParaRPr lang="en-US" sz="950" dirty="0"/>
          </a:p>
        </p:txBody>
      </p:sp>
      <p:sp>
        <p:nvSpPr>
          <p:cNvPr id="26" name="Text 24"/>
          <p:cNvSpPr/>
          <p:nvPr/>
        </p:nvSpPr>
        <p:spPr>
          <a:xfrm>
            <a:off x="3240634" y="2542032"/>
            <a:ext cx="1335024" cy="201168"/>
          </a:xfrm>
          <a:prstGeom prst="rect">
            <a:avLst/>
          </a:prstGeom>
          <a:noFill/>
          <a:ln/>
        </p:spPr>
        <p:txBody>
          <a:bodyPr wrap="square" lIns="0" tIns="0" rIns="0" bIns="0" rtlCol="0" anchor="ctr"/>
          <a:lstStyle/>
          <a:p>
            <a:pPr marL="0" indent="0" algn="ctr">
              <a:buNone/>
            </a:pPr>
            <a:r>
              <a:rPr lang="en-US" sz="1200" dirty="0">
                <a:solidFill>
                  <a:srgbClr val="8C8C8C"/>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3240634" y="2761488"/>
            <a:ext cx="1335024" cy="548640"/>
          </a:xfrm>
          <a:prstGeom prst="rect">
            <a:avLst/>
          </a:prstGeom>
          <a:noFill/>
          <a:ln/>
        </p:spPr>
        <p:txBody>
          <a:bodyPr wrap="square" lIns="0" tIns="0" rIns="0" bIns="0" rtlCol="0" anchor="t"/>
          <a:lstStyle/>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Approved</a:t>
            </a:r>
            <a:endParaRPr lang="en-US" sz="950" dirty="0"/>
          </a:p>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Keyframes</a:t>
            </a:r>
            <a:endParaRPr lang="en-US" sz="950" dirty="0"/>
          </a:p>
        </p:txBody>
      </p:sp>
      <p:sp>
        <p:nvSpPr>
          <p:cNvPr id="28" name="Text 26"/>
          <p:cNvSpPr/>
          <p:nvPr/>
        </p:nvSpPr>
        <p:spPr>
          <a:xfrm>
            <a:off x="4632350" y="2542032"/>
            <a:ext cx="1335024" cy="201168"/>
          </a:xfrm>
          <a:prstGeom prst="rect">
            <a:avLst/>
          </a:prstGeom>
          <a:noFill/>
          <a:ln/>
        </p:spPr>
        <p:txBody>
          <a:bodyPr wrap="square" lIns="0" tIns="0" rIns="0" bIns="0" rtlCol="0" anchor="ctr"/>
          <a:lstStyle/>
          <a:p>
            <a:pPr marL="0" indent="0" algn="ctr">
              <a:buNone/>
            </a:pPr>
            <a:r>
              <a:rPr lang="en-US" sz="1200" dirty="0">
                <a:solidFill>
                  <a:srgbClr val="8C8C8C"/>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4632350" y="2761488"/>
            <a:ext cx="1335024" cy="548640"/>
          </a:xfrm>
          <a:prstGeom prst="rect">
            <a:avLst/>
          </a:prstGeom>
          <a:noFill/>
          <a:ln/>
        </p:spPr>
        <p:txBody>
          <a:bodyPr wrap="square" lIns="0" tIns="0" rIns="0" bIns="0" rtlCol="0" anchor="t"/>
          <a:lstStyle/>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Approved</a:t>
            </a:r>
            <a:endParaRPr lang="en-US" sz="950" dirty="0"/>
          </a:p>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Clips</a:t>
            </a:r>
            <a:endParaRPr lang="en-US" sz="950" dirty="0"/>
          </a:p>
        </p:txBody>
      </p:sp>
      <p:sp>
        <p:nvSpPr>
          <p:cNvPr id="32" name="Text 30"/>
          <p:cNvSpPr/>
          <p:nvPr/>
        </p:nvSpPr>
        <p:spPr>
          <a:xfrm>
            <a:off x="6113678" y="2542032"/>
            <a:ext cx="1335024" cy="201168"/>
          </a:xfrm>
          <a:prstGeom prst="rect">
            <a:avLst/>
          </a:prstGeom>
          <a:noFill/>
          <a:ln/>
        </p:spPr>
        <p:txBody>
          <a:bodyPr wrap="square" lIns="0" tIns="0" rIns="0" bIns="0" rtlCol="0" anchor="ctr"/>
          <a:lstStyle/>
          <a:p>
            <a:pPr marL="0" indent="0" algn="ctr">
              <a:buNone/>
            </a:pPr>
            <a:r>
              <a:rPr lang="en-US" sz="1200" dirty="0">
                <a:solidFill>
                  <a:srgbClr val="8C8C8C"/>
                </a:solidFill>
                <a:latin typeface="Arial" pitchFamily="34" charset="0"/>
                <a:ea typeface="Arial" pitchFamily="34" charset="-122"/>
                <a:cs typeface="Arial" pitchFamily="34" charset="-120"/>
              </a:rPr>
              <a:t>↓</a:t>
            </a:r>
            <a:endParaRPr lang="en-US" sz="1200" dirty="0"/>
          </a:p>
        </p:txBody>
      </p:sp>
      <p:sp>
        <p:nvSpPr>
          <p:cNvPr id="33" name="Text 31"/>
          <p:cNvSpPr/>
          <p:nvPr/>
        </p:nvSpPr>
        <p:spPr>
          <a:xfrm>
            <a:off x="6113678" y="2761488"/>
            <a:ext cx="1335024" cy="548640"/>
          </a:xfrm>
          <a:prstGeom prst="rect">
            <a:avLst/>
          </a:prstGeom>
          <a:noFill/>
          <a:ln/>
        </p:spPr>
        <p:txBody>
          <a:bodyPr wrap="square" lIns="0" tIns="0" rIns="0" bIns="0" rtlCol="0" anchor="t"/>
          <a:lstStyle/>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Master +</a:t>
            </a:r>
            <a:endParaRPr lang="en-US" sz="950" dirty="0"/>
          </a:p>
          <a:p>
            <a:pPr marL="0" indent="0" algn="ctr">
              <a:lnSpc>
                <a:spcPts val="1200"/>
              </a:lnSpc>
              <a:buNone/>
            </a:pPr>
            <a:r>
              <a:rPr lang="en-US" sz="950" b="1" dirty="0">
                <a:solidFill>
                  <a:srgbClr val="3A3A3A"/>
                </a:solidFill>
                <a:latin typeface="Arial" pitchFamily="34" charset="0"/>
                <a:ea typeface="Arial" pitchFamily="34" charset="-122"/>
                <a:cs typeface="Arial" pitchFamily="34" charset="-120"/>
              </a:rPr>
              <a:t>Versions</a:t>
            </a:r>
            <a:endParaRPr lang="en-US" sz="950" dirty="0"/>
          </a:p>
        </p:txBody>
      </p:sp>
      <p:sp>
        <p:nvSpPr>
          <p:cNvPr id="34" name="Text 32"/>
          <p:cNvSpPr/>
          <p:nvPr/>
        </p:nvSpPr>
        <p:spPr>
          <a:xfrm>
            <a:off x="457200" y="3794760"/>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Every stage produces a locked artifact. You do not move forward until the artifact is approved.</a:t>
            </a:r>
            <a:endParaRPr lang="en-US" sz="1150" dirty="0"/>
          </a:p>
        </p:txBody>
      </p:sp>
      <p:sp>
        <p:nvSpPr>
          <p:cNvPr id="35" name="Text 33"/>
          <p:cNvSpPr/>
          <p:nvPr/>
        </p:nvSpPr>
        <p:spPr>
          <a:xfrm>
            <a:off x="457200" y="4279392"/>
            <a:ext cx="8229600" cy="274320"/>
          </a:xfrm>
          <a:prstGeom prst="rect">
            <a:avLst/>
          </a:prstGeom>
          <a:noFill/>
          <a:ln/>
        </p:spPr>
        <p:txBody>
          <a:bodyPr wrap="square" lIns="0" tIns="0" rIns="0" bIns="0" rtlCol="0" anchor="ctr"/>
          <a:lstStyle/>
          <a:p>
            <a:pPr marL="0" indent="0">
              <a:buNone/>
            </a:pPr>
            <a:r>
              <a:rPr lang="en-US" sz="950" dirty="0">
                <a:solidFill>
                  <a:srgbClr val="8C8C8C"/>
                </a:solidFill>
                <a:latin typeface="Arial" pitchFamily="34" charset="0"/>
                <a:ea typeface="Arial" pitchFamily="34" charset="-122"/>
                <a:cs typeface="Arial" pitchFamily="34" charset="-120"/>
              </a:rPr>
              <a:t>Black = the original workshop, deepened.   Orange = new to the academic course.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1417320"/>
            <a:ext cx="1828800" cy="1188720"/>
          </a:xfrm>
          <a:prstGeom prst="rect">
            <a:avLst/>
          </a:prstGeom>
          <a:noFill/>
          <a:ln/>
        </p:spPr>
        <p:txBody>
          <a:bodyPr wrap="square" lIns="0" tIns="0" rIns="0" bIns="0" rtlCol="0" anchor="ctr"/>
          <a:lstStyle/>
          <a:p>
            <a:pPr marL="0" indent="0">
              <a:buNone/>
            </a:pPr>
            <a:r>
              <a:rPr lang="en-US" sz="8400" b="1" dirty="0">
                <a:solidFill>
                  <a:srgbClr val="FF3B00"/>
                </a:solidFill>
                <a:latin typeface="Arial" pitchFamily="34" charset="0"/>
                <a:ea typeface="Arial" pitchFamily="34" charset="-122"/>
                <a:cs typeface="Arial" pitchFamily="34" charset="-120"/>
              </a:rPr>
              <a:t>01</a:t>
            </a:r>
            <a:endParaRPr lang="en-US" sz="8400" dirty="0"/>
          </a:p>
        </p:txBody>
      </p:sp>
      <p:sp>
        <p:nvSpPr>
          <p:cNvPr id="3" name="Text 1"/>
          <p:cNvSpPr/>
          <p:nvPr/>
        </p:nvSpPr>
        <p:spPr>
          <a:xfrm>
            <a:off x="2331720" y="1691640"/>
            <a:ext cx="6355080" cy="6400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BRIEF &amp; STRATEGY</a:t>
            </a:r>
            <a:endParaRPr lang="en-US" sz="3400" dirty="0"/>
          </a:p>
        </p:txBody>
      </p:sp>
      <p:sp>
        <p:nvSpPr>
          <p:cNvPr id="4" name="Text 2"/>
          <p:cNvSpPr/>
          <p:nvPr/>
        </p:nvSpPr>
        <p:spPr>
          <a:xfrm>
            <a:off x="2359152" y="2395728"/>
            <a:ext cx="6355080" cy="457200"/>
          </a:xfrm>
          <a:prstGeom prst="rect">
            <a:avLst/>
          </a:prstGeom>
          <a:noFill/>
          <a:ln/>
        </p:spPr>
        <p:txBody>
          <a:bodyPr wrap="square" lIns="0" tIns="0" rIns="0" bIns="0" rtlCol="0" anchor="t"/>
          <a:lstStyle/>
          <a:p>
            <a:pPr marL="0" indent="0">
              <a:buNone/>
            </a:pPr>
            <a:r>
              <a:rPr lang="en-US" sz="1200" dirty="0">
                <a:solidFill>
                  <a:srgbClr val="8C8C8C"/>
                </a:solidFill>
                <a:latin typeface="Arial" pitchFamily="34" charset="0"/>
                <a:ea typeface="Arial" pitchFamily="34" charset="-122"/>
                <a:cs typeface="Arial" pitchFamily="34" charset="-120"/>
              </a:rPr>
              <a:t>Where the idea comes from — before a single prompt is written.</a:t>
            </a:r>
            <a:endParaRPr lang="en-US" sz="1200" dirty="0"/>
          </a:p>
        </p:txBody>
      </p:sp>
      <p:sp>
        <p:nvSpPr>
          <p:cNvPr id="5" name="Shape 3"/>
          <p:cNvSpPr/>
          <p:nvPr/>
        </p:nvSpPr>
        <p:spPr>
          <a:xfrm>
            <a:off x="7635240" y="411480"/>
            <a:ext cx="1051560" cy="274320"/>
          </a:xfrm>
          <a:prstGeom prst="roundRect">
            <a:avLst>
              <a:gd name="adj" fmla="val 26667"/>
            </a:avLst>
          </a:prstGeom>
          <a:solidFill>
            <a:srgbClr val="FF3B00"/>
          </a:solidFill>
          <a:ln/>
        </p:spPr>
        <p:txBody>
          <a:bodyPr/>
          <a:lstStyle/>
          <a:p>
            <a:endParaRPr lang="en-EG"/>
          </a:p>
        </p:txBody>
      </p:sp>
      <p:sp>
        <p:nvSpPr>
          <p:cNvPr id="6" name="Text 4"/>
          <p:cNvSpPr/>
          <p:nvPr/>
        </p:nvSpPr>
        <p:spPr>
          <a:xfrm>
            <a:off x="7635240" y="411480"/>
            <a:ext cx="1051560" cy="274320"/>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NEW MODULE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621792"/>
            <a:ext cx="8229600" cy="457200"/>
          </a:xfrm>
          <a:prstGeom prst="rect">
            <a:avLst/>
          </a:prstGeom>
          <a:noFill/>
          <a:ln/>
        </p:spPr>
        <p:txBody>
          <a:bodyPr wrap="square" lIns="0" tIns="0" rIns="0" bIns="0" rtlCol="0" anchor="t"/>
          <a:lstStyle/>
          <a:p>
            <a:pPr marL="0" indent="0">
              <a:buNone/>
            </a:pPr>
            <a:r>
              <a:rPr lang="en-US" sz="2800" b="1" dirty="0">
                <a:solidFill>
                  <a:srgbClr val="0A0A0A"/>
                </a:solidFill>
                <a:latin typeface="Arial" pitchFamily="34" charset="0"/>
                <a:ea typeface="Arial" pitchFamily="34" charset="-122"/>
                <a:cs typeface="Arial" pitchFamily="34" charset="-120"/>
              </a:rPr>
              <a:t>THE ONE-PAGE CREATIVE PLATFORM</a:t>
            </a:r>
            <a:endParaRPr lang="en-US" sz="2800" dirty="0"/>
          </a:p>
        </p:txBody>
      </p:sp>
      <p:sp>
        <p:nvSpPr>
          <p:cNvPr id="4" name="Text 2"/>
          <p:cNvSpPr/>
          <p:nvPr/>
        </p:nvSpPr>
        <p:spPr>
          <a:xfrm>
            <a:off x="457200" y="1078992"/>
            <a:ext cx="8229600" cy="256032"/>
          </a:xfrm>
          <a:prstGeom prst="rect">
            <a:avLst/>
          </a:prstGeom>
          <a:noFill/>
          <a:ln/>
        </p:spPr>
        <p:txBody>
          <a:bodyPr wrap="square" lIns="0" tIns="0" rIns="0" bIns="0" rtlCol="0" anchor="ctr"/>
          <a:lstStyle/>
          <a:p>
            <a:pPr marL="0" indent="0">
              <a:buNone/>
            </a:pPr>
            <a:r>
              <a:rPr lang="en-US" sz="1200" dirty="0">
                <a:solidFill>
                  <a:srgbClr val="3A3A3A"/>
                </a:solidFill>
                <a:latin typeface="Arial" pitchFamily="34" charset="0"/>
                <a:ea typeface="Arial" pitchFamily="34" charset="-122"/>
                <a:cs typeface="Arial" pitchFamily="34" charset="-120"/>
              </a:rPr>
              <a:t>Five questions, asked in this order. Answer them and the film writes itself.</a:t>
            </a:r>
            <a:endParaRPr lang="en-US" sz="1200" dirty="0"/>
          </a:p>
        </p:txBody>
      </p:sp>
      <p:sp>
        <p:nvSpPr>
          <p:cNvPr id="5" name="Shape 3"/>
          <p:cNvSpPr/>
          <p:nvPr/>
        </p:nvSpPr>
        <p:spPr>
          <a:xfrm>
            <a:off x="457200" y="1481328"/>
            <a:ext cx="310896" cy="310896"/>
          </a:xfrm>
          <a:prstGeom prst="roundRect">
            <a:avLst>
              <a:gd name="adj" fmla="val 23529"/>
            </a:avLst>
          </a:prstGeom>
          <a:solidFill>
            <a:srgbClr val="0A0A0A"/>
          </a:solidFill>
          <a:ln/>
        </p:spPr>
        <p:txBody>
          <a:bodyPr/>
          <a:lstStyle/>
          <a:p>
            <a:endParaRPr lang="en-EG"/>
          </a:p>
        </p:txBody>
      </p:sp>
      <p:sp>
        <p:nvSpPr>
          <p:cNvPr id="6" name="Text 4"/>
          <p:cNvSpPr/>
          <p:nvPr/>
        </p:nvSpPr>
        <p:spPr>
          <a:xfrm>
            <a:off x="457200" y="14813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932688" y="1481328"/>
            <a:ext cx="7754112" cy="310896"/>
          </a:xfrm>
          <a:prstGeom prst="rect">
            <a:avLst/>
          </a:prstGeom>
          <a:noFill/>
          <a:ln/>
        </p:spPr>
        <p:txBody>
          <a:bodyPr wrap="square" lIns="0" tIns="0" rIns="0" bIns="0" rtlCol="0" anchor="ctr"/>
          <a:lstStyle/>
          <a:p>
            <a:r>
              <a:rPr lang="en-US" sz="1400" b="1" dirty="0">
                <a:solidFill>
                  <a:srgbClr val="0A0A0A"/>
                </a:solidFill>
                <a:latin typeface="Arial" pitchFamily="34" charset="0"/>
                <a:ea typeface="Arial" pitchFamily="34" charset="-122"/>
                <a:cs typeface="Arial" pitchFamily="34" charset="-120"/>
              </a:rPr>
              <a:t>Why does this film exist at all?                              </a:t>
            </a:r>
            <a:r>
              <a:rPr lang="en-US" sz="1050" dirty="0">
                <a:solidFill>
                  <a:srgbClr val="1F1F1F"/>
                </a:solidFill>
                <a:latin typeface="Arial" pitchFamily="34" charset="0"/>
                <a:ea typeface="Arial" pitchFamily="34" charset="-122"/>
                <a:cs typeface="Arial" pitchFamily="34" charset="-120"/>
              </a:rPr>
              <a:t>Business problem</a:t>
            </a:r>
            <a:r>
              <a:rPr lang="en-US" sz="1050" b="1" dirty="0">
                <a:solidFill>
                  <a:srgbClr val="0A0A0A"/>
                </a:solidFill>
                <a:latin typeface="Arial" pitchFamily="34" charset="0"/>
                <a:ea typeface="Arial" pitchFamily="34" charset="-122"/>
                <a:cs typeface="Arial" pitchFamily="34" charset="-120"/>
              </a:rPr>
              <a:t> </a:t>
            </a:r>
            <a:endParaRPr lang="en-US" sz="1050" dirty="0"/>
          </a:p>
        </p:txBody>
      </p:sp>
      <p:sp>
        <p:nvSpPr>
          <p:cNvPr id="8" name="Shape 6"/>
          <p:cNvSpPr/>
          <p:nvPr/>
        </p:nvSpPr>
        <p:spPr>
          <a:xfrm>
            <a:off x="457200" y="1938528"/>
            <a:ext cx="310896" cy="310896"/>
          </a:xfrm>
          <a:prstGeom prst="roundRect">
            <a:avLst>
              <a:gd name="adj" fmla="val 23529"/>
            </a:avLst>
          </a:prstGeom>
          <a:solidFill>
            <a:srgbClr val="0A0A0A"/>
          </a:solidFill>
          <a:ln/>
        </p:spPr>
        <p:txBody>
          <a:bodyPr/>
          <a:lstStyle/>
          <a:p>
            <a:endParaRPr lang="en-EG"/>
          </a:p>
        </p:txBody>
      </p:sp>
      <p:sp>
        <p:nvSpPr>
          <p:cNvPr id="9" name="Text 7"/>
          <p:cNvSpPr/>
          <p:nvPr/>
        </p:nvSpPr>
        <p:spPr>
          <a:xfrm>
            <a:off x="457200" y="19385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8"/>
          <p:cNvSpPr/>
          <p:nvPr/>
        </p:nvSpPr>
        <p:spPr>
          <a:xfrm>
            <a:off x="932688" y="1938528"/>
            <a:ext cx="4983480" cy="310896"/>
          </a:xfrm>
          <a:prstGeom prst="rect">
            <a:avLst/>
          </a:prstGeom>
          <a:noFill/>
          <a:ln/>
        </p:spPr>
        <p:txBody>
          <a:bodyPr wrap="square" lIns="0" tIns="0" rIns="0" bIns="0" rtlCol="0" anchor="ctr"/>
          <a:lstStyle/>
          <a:p>
            <a:r>
              <a:rPr lang="en-US" sz="1400" b="1" dirty="0">
                <a:solidFill>
                  <a:srgbClr val="0A0A0A"/>
                </a:solidFill>
                <a:latin typeface="Arial" pitchFamily="34" charset="0"/>
                <a:ea typeface="Arial" pitchFamily="34" charset="-122"/>
                <a:cs typeface="Arial" pitchFamily="34" charset="-120"/>
              </a:rPr>
              <a:t>Who exactly are we talking to?                               </a:t>
            </a:r>
            <a:r>
              <a:rPr lang="en-US" sz="1050" dirty="0">
                <a:solidFill>
                  <a:srgbClr val="1F1F1F"/>
                </a:solidFill>
                <a:latin typeface="Arial" pitchFamily="34" charset="0"/>
                <a:cs typeface="Arial" pitchFamily="34" charset="-120"/>
              </a:rPr>
              <a:t>Audience</a:t>
            </a:r>
          </a:p>
        </p:txBody>
      </p:sp>
      <p:sp>
        <p:nvSpPr>
          <p:cNvPr id="11" name="Text 9"/>
          <p:cNvSpPr/>
          <p:nvPr/>
        </p:nvSpPr>
        <p:spPr>
          <a:xfrm>
            <a:off x="5623560" y="1938528"/>
            <a:ext cx="3063240" cy="310896"/>
          </a:xfrm>
          <a:prstGeom prst="rect">
            <a:avLst/>
          </a:prstGeom>
          <a:noFill/>
          <a:ln/>
        </p:spPr>
        <p:txBody>
          <a:bodyPr wrap="square" lIns="0" tIns="0" rIns="0" bIns="0" rtlCol="0" anchor="ctr"/>
          <a:lstStyle/>
          <a:p>
            <a:pPr marL="0" indent="0" algn="r">
              <a:buNone/>
            </a:pPr>
            <a:r>
              <a:rPr lang="en-US" sz="1050" b="1" dirty="0">
                <a:solidFill>
                  <a:srgbClr val="FF3B00"/>
                </a:solidFill>
                <a:latin typeface="Arial" pitchFamily="34" charset="0"/>
                <a:ea typeface="Arial" pitchFamily="34" charset="-122"/>
                <a:cs typeface="Arial" pitchFamily="34" charset="-120"/>
              </a:rPr>
              <a:t>Not “young people”. One real person.</a:t>
            </a:r>
            <a:endParaRPr lang="en-US" sz="1050" dirty="0"/>
          </a:p>
        </p:txBody>
      </p:sp>
      <p:sp>
        <p:nvSpPr>
          <p:cNvPr id="12" name="Shape 10"/>
          <p:cNvSpPr/>
          <p:nvPr/>
        </p:nvSpPr>
        <p:spPr>
          <a:xfrm>
            <a:off x="457200" y="2395728"/>
            <a:ext cx="310896" cy="310896"/>
          </a:xfrm>
          <a:prstGeom prst="roundRect">
            <a:avLst>
              <a:gd name="adj" fmla="val 23529"/>
            </a:avLst>
          </a:prstGeom>
          <a:solidFill>
            <a:srgbClr val="0A0A0A"/>
          </a:solidFill>
          <a:ln/>
        </p:spPr>
        <p:txBody>
          <a:bodyPr/>
          <a:lstStyle/>
          <a:p>
            <a:endParaRPr lang="en-EG"/>
          </a:p>
        </p:txBody>
      </p:sp>
      <p:sp>
        <p:nvSpPr>
          <p:cNvPr id="13" name="Text 11"/>
          <p:cNvSpPr/>
          <p:nvPr/>
        </p:nvSpPr>
        <p:spPr>
          <a:xfrm>
            <a:off x="457200" y="23957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4" name="Text 12"/>
          <p:cNvSpPr/>
          <p:nvPr/>
        </p:nvSpPr>
        <p:spPr>
          <a:xfrm>
            <a:off x="932688" y="2395728"/>
            <a:ext cx="5833872" cy="310896"/>
          </a:xfrm>
          <a:prstGeom prst="rect">
            <a:avLst/>
          </a:prstGeom>
          <a:noFill/>
          <a:ln/>
        </p:spPr>
        <p:txBody>
          <a:bodyPr wrap="square" lIns="0" tIns="0" rIns="0" bIns="0" rtlCol="0" anchor="ctr"/>
          <a:lstStyle/>
          <a:p>
            <a:r>
              <a:rPr lang="en-US" sz="1400" b="1" dirty="0">
                <a:solidFill>
                  <a:srgbClr val="0A0A0A"/>
                </a:solidFill>
                <a:latin typeface="Arial" pitchFamily="34" charset="0"/>
                <a:ea typeface="Arial" pitchFamily="34" charset="-122"/>
                <a:cs typeface="Arial" pitchFamily="34" charset="-120"/>
              </a:rPr>
              <a:t>What human truth are we building on?                  </a:t>
            </a:r>
            <a:r>
              <a:rPr lang="en-US" sz="1050" dirty="0">
                <a:solidFill>
                  <a:srgbClr val="1F1F1F"/>
                </a:solidFill>
                <a:latin typeface="Arial" pitchFamily="34" charset="0"/>
                <a:cs typeface="Arial" pitchFamily="34" charset="-120"/>
              </a:rPr>
              <a:t>Consumer insight</a:t>
            </a:r>
          </a:p>
        </p:txBody>
      </p:sp>
      <p:sp>
        <p:nvSpPr>
          <p:cNvPr id="15" name="Shape 13"/>
          <p:cNvSpPr/>
          <p:nvPr/>
        </p:nvSpPr>
        <p:spPr>
          <a:xfrm>
            <a:off x="457200" y="2852928"/>
            <a:ext cx="310896" cy="310896"/>
          </a:xfrm>
          <a:prstGeom prst="roundRect">
            <a:avLst>
              <a:gd name="adj" fmla="val 23529"/>
            </a:avLst>
          </a:prstGeom>
          <a:solidFill>
            <a:srgbClr val="0A0A0A"/>
          </a:solidFill>
          <a:ln/>
        </p:spPr>
        <p:txBody>
          <a:bodyPr/>
          <a:lstStyle/>
          <a:p>
            <a:endParaRPr lang="en-EG"/>
          </a:p>
        </p:txBody>
      </p:sp>
      <p:sp>
        <p:nvSpPr>
          <p:cNvPr id="16" name="Text 14"/>
          <p:cNvSpPr/>
          <p:nvPr/>
        </p:nvSpPr>
        <p:spPr>
          <a:xfrm>
            <a:off x="457200" y="28529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7" name="Text 15"/>
          <p:cNvSpPr/>
          <p:nvPr/>
        </p:nvSpPr>
        <p:spPr>
          <a:xfrm>
            <a:off x="932687" y="2852928"/>
            <a:ext cx="5564365" cy="310896"/>
          </a:xfrm>
          <a:prstGeom prst="rect">
            <a:avLst/>
          </a:prstGeom>
          <a:noFill/>
          <a:ln/>
        </p:spPr>
        <p:txBody>
          <a:bodyPr wrap="square" lIns="0" tIns="0" rIns="0" bIns="0" rtlCol="0" anchor="ctr"/>
          <a:lstStyle/>
          <a:p>
            <a:r>
              <a:rPr lang="en-US" sz="1400" b="1" dirty="0">
                <a:solidFill>
                  <a:srgbClr val="0A0A0A"/>
                </a:solidFill>
                <a:latin typeface="Arial" pitchFamily="34" charset="0"/>
                <a:ea typeface="Arial" pitchFamily="34" charset="-122"/>
                <a:cs typeface="Arial" pitchFamily="34" charset="-120"/>
              </a:rPr>
              <a:t>What is the one thing they must remember?         </a:t>
            </a:r>
            <a:r>
              <a:rPr lang="en-US" sz="1050" dirty="0">
                <a:solidFill>
                  <a:srgbClr val="1F1F1F"/>
                </a:solidFill>
                <a:latin typeface="Arial" pitchFamily="34" charset="0"/>
                <a:cs typeface="Arial" pitchFamily="34" charset="-120"/>
              </a:rPr>
              <a:t>Proposition</a:t>
            </a:r>
          </a:p>
        </p:txBody>
      </p:sp>
      <p:sp>
        <p:nvSpPr>
          <p:cNvPr id="18" name="Text 16"/>
          <p:cNvSpPr/>
          <p:nvPr/>
        </p:nvSpPr>
        <p:spPr>
          <a:xfrm>
            <a:off x="5623560" y="2852928"/>
            <a:ext cx="3063240" cy="310896"/>
          </a:xfrm>
          <a:prstGeom prst="rect">
            <a:avLst/>
          </a:prstGeom>
          <a:noFill/>
          <a:ln/>
        </p:spPr>
        <p:txBody>
          <a:bodyPr wrap="square" lIns="0" tIns="0" rIns="0" bIns="0" rtlCol="0" anchor="ctr"/>
          <a:lstStyle/>
          <a:p>
            <a:pPr marL="0" indent="0" algn="r">
              <a:buNone/>
            </a:pPr>
            <a:r>
              <a:rPr lang="en-US" sz="1050" b="1" dirty="0">
                <a:solidFill>
                  <a:srgbClr val="FF3B00"/>
                </a:solidFill>
                <a:latin typeface="Arial" pitchFamily="34" charset="0"/>
                <a:ea typeface="Arial" pitchFamily="34" charset="-122"/>
                <a:cs typeface="Arial" pitchFamily="34" charset="-120"/>
              </a:rPr>
              <a:t>One sentence. Not two.</a:t>
            </a:r>
            <a:endParaRPr lang="en-US" sz="1050" dirty="0"/>
          </a:p>
        </p:txBody>
      </p:sp>
      <p:sp>
        <p:nvSpPr>
          <p:cNvPr id="19" name="Shape 17"/>
          <p:cNvSpPr/>
          <p:nvPr/>
        </p:nvSpPr>
        <p:spPr>
          <a:xfrm>
            <a:off x="457200" y="3310128"/>
            <a:ext cx="310896" cy="310896"/>
          </a:xfrm>
          <a:prstGeom prst="roundRect">
            <a:avLst>
              <a:gd name="adj" fmla="val 23529"/>
            </a:avLst>
          </a:prstGeom>
          <a:solidFill>
            <a:srgbClr val="0A0A0A"/>
          </a:solidFill>
          <a:ln/>
        </p:spPr>
        <p:txBody>
          <a:bodyPr/>
          <a:lstStyle/>
          <a:p>
            <a:endParaRPr lang="en-EG"/>
          </a:p>
        </p:txBody>
      </p:sp>
      <p:sp>
        <p:nvSpPr>
          <p:cNvPr id="20" name="Text 18"/>
          <p:cNvSpPr/>
          <p:nvPr/>
        </p:nvSpPr>
        <p:spPr>
          <a:xfrm>
            <a:off x="457200" y="33101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1" name="Text 19"/>
          <p:cNvSpPr/>
          <p:nvPr/>
        </p:nvSpPr>
        <p:spPr>
          <a:xfrm>
            <a:off x="932688" y="3310128"/>
            <a:ext cx="5650992" cy="310896"/>
          </a:xfrm>
          <a:prstGeom prst="rect">
            <a:avLst/>
          </a:prstGeom>
          <a:noFill/>
          <a:ln/>
        </p:spPr>
        <p:txBody>
          <a:bodyPr wrap="square" lIns="0" tIns="0" rIns="0" bIns="0" rtlCol="0" anchor="ctr"/>
          <a:lstStyle/>
          <a:p>
            <a:r>
              <a:rPr lang="en-US" sz="1400" b="1" dirty="0">
                <a:solidFill>
                  <a:srgbClr val="0A0A0A"/>
                </a:solidFill>
                <a:latin typeface="Arial" pitchFamily="34" charset="0"/>
                <a:ea typeface="Arial" pitchFamily="34" charset="-122"/>
                <a:cs typeface="Arial" pitchFamily="34" charset="-120"/>
              </a:rPr>
              <a:t>And why should they believe us?                           </a:t>
            </a:r>
            <a:r>
              <a:rPr lang="en-US" sz="1050" dirty="0">
                <a:solidFill>
                  <a:srgbClr val="1F1F1F"/>
                </a:solidFill>
                <a:latin typeface="Arial" pitchFamily="34" charset="0"/>
                <a:cs typeface="Arial" pitchFamily="34" charset="-120"/>
              </a:rPr>
              <a:t>Reason to believe</a:t>
            </a:r>
          </a:p>
        </p:txBody>
      </p:sp>
      <p:sp>
        <p:nvSpPr>
          <p:cNvPr id="22" name="Text 20"/>
          <p:cNvSpPr/>
          <p:nvPr/>
        </p:nvSpPr>
        <p:spPr>
          <a:xfrm>
            <a:off x="457200" y="3767328"/>
            <a:ext cx="8229600" cy="219456"/>
          </a:xfrm>
          <a:prstGeom prst="rect">
            <a:avLst/>
          </a:prstGeom>
          <a:noFill/>
          <a:ln/>
        </p:spPr>
        <p:txBody>
          <a:bodyPr wrap="square" lIns="0" tIns="0" rIns="0" bIns="0" rtlCol="0" anchor="ctr"/>
          <a:lstStyle/>
          <a:p>
            <a:pPr marL="0" indent="0">
              <a:buNone/>
            </a:pPr>
            <a:r>
              <a:rPr lang="en-US" sz="950" b="1" kern="0" spc="150" dirty="0">
                <a:solidFill>
                  <a:srgbClr val="8C8C8C"/>
                </a:solidFill>
                <a:latin typeface="Arial" pitchFamily="34" charset="0"/>
                <a:ea typeface="Arial" pitchFamily="34" charset="-122"/>
                <a:cs typeface="Arial" pitchFamily="34" charset="-120"/>
              </a:rPr>
              <a:t>THEN, AND ONLY THEN, WE SET</a:t>
            </a:r>
            <a:endParaRPr lang="en-US" sz="950" dirty="0"/>
          </a:p>
        </p:txBody>
      </p:sp>
      <p:sp>
        <p:nvSpPr>
          <p:cNvPr id="23" name="Shape 21"/>
          <p:cNvSpPr/>
          <p:nvPr/>
        </p:nvSpPr>
        <p:spPr>
          <a:xfrm>
            <a:off x="457200" y="4041648"/>
            <a:ext cx="1920240" cy="457200"/>
          </a:xfrm>
          <a:prstGeom prst="roundRect">
            <a:avLst>
              <a:gd name="adj" fmla="val 18000"/>
            </a:avLst>
          </a:prstGeom>
          <a:solidFill>
            <a:srgbClr val="0A0A0A"/>
          </a:solidFill>
          <a:ln/>
        </p:spPr>
        <p:txBody>
          <a:bodyPr/>
          <a:lstStyle/>
          <a:p>
            <a:endParaRPr lang="en-EG"/>
          </a:p>
        </p:txBody>
      </p:sp>
      <p:sp>
        <p:nvSpPr>
          <p:cNvPr id="24" name="Text 22"/>
          <p:cNvSpPr/>
          <p:nvPr/>
        </p:nvSpPr>
        <p:spPr>
          <a:xfrm>
            <a:off x="457200" y="4041648"/>
            <a:ext cx="1920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TONE</a:t>
            </a:r>
            <a:endParaRPr lang="en-US" sz="1200" dirty="0"/>
          </a:p>
        </p:txBody>
      </p:sp>
      <p:sp>
        <p:nvSpPr>
          <p:cNvPr id="25" name="Shape 23"/>
          <p:cNvSpPr/>
          <p:nvPr/>
        </p:nvSpPr>
        <p:spPr>
          <a:xfrm>
            <a:off x="2560320" y="4041648"/>
            <a:ext cx="1920240" cy="457200"/>
          </a:xfrm>
          <a:prstGeom prst="roundRect">
            <a:avLst>
              <a:gd name="adj" fmla="val 18000"/>
            </a:avLst>
          </a:prstGeom>
          <a:solidFill>
            <a:srgbClr val="0A0A0A"/>
          </a:solidFill>
          <a:ln/>
        </p:spPr>
        <p:txBody>
          <a:bodyPr/>
          <a:lstStyle/>
          <a:p>
            <a:endParaRPr lang="en-EG"/>
          </a:p>
        </p:txBody>
      </p:sp>
      <p:sp>
        <p:nvSpPr>
          <p:cNvPr id="26" name="Text 24"/>
          <p:cNvSpPr/>
          <p:nvPr/>
        </p:nvSpPr>
        <p:spPr>
          <a:xfrm>
            <a:off x="2560320" y="4041648"/>
            <a:ext cx="1920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MANDATORIES</a:t>
            </a:r>
            <a:endParaRPr lang="en-US" sz="1200" dirty="0"/>
          </a:p>
        </p:txBody>
      </p:sp>
      <p:sp>
        <p:nvSpPr>
          <p:cNvPr id="27" name="Shape 25"/>
          <p:cNvSpPr/>
          <p:nvPr/>
        </p:nvSpPr>
        <p:spPr>
          <a:xfrm>
            <a:off x="4663440" y="4041648"/>
            <a:ext cx="1920240" cy="457200"/>
          </a:xfrm>
          <a:prstGeom prst="roundRect">
            <a:avLst>
              <a:gd name="adj" fmla="val 18000"/>
            </a:avLst>
          </a:prstGeom>
          <a:solidFill>
            <a:srgbClr val="FF3B00"/>
          </a:solidFill>
          <a:ln/>
        </p:spPr>
        <p:txBody>
          <a:bodyPr/>
          <a:lstStyle/>
          <a:p>
            <a:endParaRPr lang="en-EG"/>
          </a:p>
        </p:txBody>
      </p:sp>
      <p:sp>
        <p:nvSpPr>
          <p:cNvPr id="28" name="Text 26"/>
          <p:cNvSpPr/>
          <p:nvPr/>
        </p:nvSpPr>
        <p:spPr>
          <a:xfrm>
            <a:off x="4663440" y="4041648"/>
            <a:ext cx="1920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DURATION</a:t>
            </a:r>
            <a:endParaRPr lang="en-US" sz="1200" dirty="0"/>
          </a:p>
        </p:txBody>
      </p:sp>
      <p:sp>
        <p:nvSpPr>
          <p:cNvPr id="29" name="Shape 27"/>
          <p:cNvSpPr/>
          <p:nvPr/>
        </p:nvSpPr>
        <p:spPr>
          <a:xfrm>
            <a:off x="6766560" y="4041648"/>
            <a:ext cx="1920240" cy="457200"/>
          </a:xfrm>
          <a:prstGeom prst="roundRect">
            <a:avLst>
              <a:gd name="adj" fmla="val 18000"/>
            </a:avLst>
          </a:prstGeom>
          <a:solidFill>
            <a:srgbClr val="0A0A0A"/>
          </a:solidFill>
          <a:ln/>
        </p:spPr>
        <p:txBody>
          <a:bodyPr/>
          <a:lstStyle/>
          <a:p>
            <a:endParaRPr lang="en-EG"/>
          </a:p>
        </p:txBody>
      </p:sp>
      <p:sp>
        <p:nvSpPr>
          <p:cNvPr id="30" name="Text 28"/>
          <p:cNvSpPr/>
          <p:nvPr/>
        </p:nvSpPr>
        <p:spPr>
          <a:xfrm>
            <a:off x="6766560" y="4041648"/>
            <a:ext cx="1920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PLATFORM</a:t>
            </a:r>
            <a:endParaRPr lang="en-US" sz="1200" dirty="0"/>
          </a:p>
        </p:txBody>
      </p:sp>
      <p:sp>
        <p:nvSpPr>
          <p:cNvPr id="31" name="Text 29"/>
          <p:cNvSpPr/>
          <p:nvPr/>
        </p:nvSpPr>
        <p:spPr>
          <a:xfrm>
            <a:off x="457200" y="4608576"/>
            <a:ext cx="8229600" cy="36576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A 6-second idea is never written the same way as a 30-second one. Duration decides everything after it.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PROMPTING IS BRIEFING</a:t>
            </a:r>
            <a:endParaRPr lang="en-US" sz="3000" dirty="0"/>
          </a:p>
        </p:txBody>
      </p:sp>
      <p:sp>
        <p:nvSpPr>
          <p:cNvPr id="4" name="Shape 2"/>
          <p:cNvSpPr/>
          <p:nvPr/>
        </p:nvSpPr>
        <p:spPr>
          <a:xfrm>
            <a:off x="457200" y="1298448"/>
            <a:ext cx="1517904" cy="457200"/>
          </a:xfrm>
          <a:prstGeom prst="roundRect">
            <a:avLst>
              <a:gd name="adj" fmla="val 18000"/>
            </a:avLst>
          </a:prstGeom>
          <a:solidFill>
            <a:srgbClr val="0A0A0A"/>
          </a:solidFill>
          <a:ln/>
        </p:spPr>
        <p:txBody>
          <a:bodyPr/>
          <a:lstStyle/>
          <a:p>
            <a:endParaRPr lang="en-EG"/>
          </a:p>
        </p:txBody>
      </p:sp>
      <p:sp>
        <p:nvSpPr>
          <p:cNvPr id="5" name="Text 3"/>
          <p:cNvSpPr/>
          <p:nvPr/>
        </p:nvSpPr>
        <p:spPr>
          <a:xfrm>
            <a:off x="603504" y="1298448"/>
            <a:ext cx="1225296"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INSIGHT</a:t>
            </a:r>
            <a:endParaRPr lang="en-US" sz="1100" dirty="0"/>
          </a:p>
        </p:txBody>
      </p:sp>
      <p:sp>
        <p:nvSpPr>
          <p:cNvPr id="6" name="Text 4"/>
          <p:cNvSpPr/>
          <p:nvPr/>
        </p:nvSpPr>
        <p:spPr>
          <a:xfrm>
            <a:off x="1975104" y="1298448"/>
            <a:ext cx="146304" cy="457200"/>
          </a:xfrm>
          <a:prstGeom prst="rect">
            <a:avLst/>
          </a:prstGeom>
          <a:noFill/>
          <a:ln/>
        </p:spPr>
        <p:txBody>
          <a:bodyPr wrap="square" lIns="0" tIns="0" rIns="0" bIns="0" rtlCol="0" anchor="ctr"/>
          <a:lstStyle/>
          <a:p>
            <a:pPr marL="0" indent="0" algn="ctr">
              <a:buNone/>
            </a:pPr>
            <a:r>
              <a:rPr lang="en-US" sz="1400" b="1" dirty="0">
                <a:solidFill>
                  <a:srgbClr val="8C8C8C"/>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2121408" y="1298448"/>
            <a:ext cx="1517904" cy="457200"/>
          </a:xfrm>
          <a:prstGeom prst="roundRect">
            <a:avLst>
              <a:gd name="adj" fmla="val 18000"/>
            </a:avLst>
          </a:prstGeom>
          <a:solidFill>
            <a:srgbClr val="0A0A0A"/>
          </a:solidFill>
          <a:ln/>
        </p:spPr>
        <p:txBody>
          <a:bodyPr/>
          <a:lstStyle/>
          <a:p>
            <a:endParaRPr lang="en-EG"/>
          </a:p>
        </p:txBody>
      </p:sp>
      <p:sp>
        <p:nvSpPr>
          <p:cNvPr id="8" name="Text 6"/>
          <p:cNvSpPr/>
          <p:nvPr/>
        </p:nvSpPr>
        <p:spPr>
          <a:xfrm>
            <a:off x="2267712" y="1298448"/>
            <a:ext cx="1225296"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IDEA</a:t>
            </a:r>
            <a:endParaRPr lang="en-US" sz="1100" dirty="0"/>
          </a:p>
        </p:txBody>
      </p:sp>
      <p:sp>
        <p:nvSpPr>
          <p:cNvPr id="9" name="Text 7"/>
          <p:cNvSpPr/>
          <p:nvPr/>
        </p:nvSpPr>
        <p:spPr>
          <a:xfrm>
            <a:off x="3639312" y="1298448"/>
            <a:ext cx="146304" cy="457200"/>
          </a:xfrm>
          <a:prstGeom prst="rect">
            <a:avLst/>
          </a:prstGeom>
          <a:noFill/>
          <a:ln/>
        </p:spPr>
        <p:txBody>
          <a:bodyPr wrap="square" lIns="0" tIns="0" rIns="0" bIns="0" rtlCol="0" anchor="ctr"/>
          <a:lstStyle/>
          <a:p>
            <a:pPr marL="0" indent="0" algn="ctr">
              <a:buNone/>
            </a:pPr>
            <a:r>
              <a:rPr lang="en-US" sz="1400" b="1" dirty="0">
                <a:solidFill>
                  <a:srgbClr val="8C8C8C"/>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3785616" y="1298448"/>
            <a:ext cx="1517904" cy="457200"/>
          </a:xfrm>
          <a:prstGeom prst="roundRect">
            <a:avLst>
              <a:gd name="adj" fmla="val 18000"/>
            </a:avLst>
          </a:prstGeom>
          <a:solidFill>
            <a:srgbClr val="0A0A0A"/>
          </a:solidFill>
          <a:ln/>
        </p:spPr>
        <p:txBody>
          <a:bodyPr/>
          <a:lstStyle/>
          <a:p>
            <a:endParaRPr lang="en-EG"/>
          </a:p>
        </p:txBody>
      </p:sp>
      <p:sp>
        <p:nvSpPr>
          <p:cNvPr id="11" name="Text 9"/>
          <p:cNvSpPr/>
          <p:nvPr/>
        </p:nvSpPr>
        <p:spPr>
          <a:xfrm>
            <a:off x="3931920" y="1298448"/>
            <a:ext cx="1225296"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STORY</a:t>
            </a:r>
            <a:endParaRPr lang="en-US" sz="1100" dirty="0"/>
          </a:p>
        </p:txBody>
      </p:sp>
      <p:sp>
        <p:nvSpPr>
          <p:cNvPr id="12" name="Text 10"/>
          <p:cNvSpPr/>
          <p:nvPr/>
        </p:nvSpPr>
        <p:spPr>
          <a:xfrm>
            <a:off x="5303520" y="1298448"/>
            <a:ext cx="146304" cy="457200"/>
          </a:xfrm>
          <a:prstGeom prst="rect">
            <a:avLst/>
          </a:prstGeom>
          <a:noFill/>
          <a:ln/>
        </p:spPr>
        <p:txBody>
          <a:bodyPr wrap="square" lIns="0" tIns="0" rIns="0" bIns="0" rtlCol="0" anchor="ctr"/>
          <a:lstStyle/>
          <a:p>
            <a:pPr marL="0" indent="0" algn="ctr">
              <a:buNone/>
            </a:pPr>
            <a:r>
              <a:rPr lang="en-US" sz="1400" b="1" dirty="0">
                <a:solidFill>
                  <a:srgbClr val="8C8C8C"/>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5449824" y="1298448"/>
            <a:ext cx="1517904" cy="457200"/>
          </a:xfrm>
          <a:prstGeom prst="roundRect">
            <a:avLst>
              <a:gd name="adj" fmla="val 18000"/>
            </a:avLst>
          </a:prstGeom>
          <a:solidFill>
            <a:srgbClr val="0A0A0A"/>
          </a:solidFill>
          <a:ln/>
        </p:spPr>
        <p:txBody>
          <a:bodyPr/>
          <a:lstStyle/>
          <a:p>
            <a:endParaRPr lang="en-EG"/>
          </a:p>
        </p:txBody>
      </p:sp>
      <p:sp>
        <p:nvSpPr>
          <p:cNvPr id="14" name="Text 12"/>
          <p:cNvSpPr/>
          <p:nvPr/>
        </p:nvSpPr>
        <p:spPr>
          <a:xfrm>
            <a:off x="5596128" y="1298448"/>
            <a:ext cx="1225296"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SCRIPT</a:t>
            </a:r>
            <a:endParaRPr lang="en-US" sz="1100" dirty="0"/>
          </a:p>
        </p:txBody>
      </p:sp>
      <p:sp>
        <p:nvSpPr>
          <p:cNvPr id="15" name="Text 13"/>
          <p:cNvSpPr/>
          <p:nvPr/>
        </p:nvSpPr>
        <p:spPr>
          <a:xfrm>
            <a:off x="6967728" y="1298448"/>
            <a:ext cx="146304" cy="457200"/>
          </a:xfrm>
          <a:prstGeom prst="rect">
            <a:avLst/>
          </a:prstGeom>
          <a:noFill/>
          <a:ln/>
        </p:spPr>
        <p:txBody>
          <a:bodyPr wrap="square" lIns="0" tIns="0" rIns="0" bIns="0" rtlCol="0" anchor="ctr"/>
          <a:lstStyle/>
          <a:p>
            <a:pPr marL="0" indent="0" algn="ctr">
              <a:buNone/>
            </a:pPr>
            <a:r>
              <a:rPr lang="en-US" sz="1400" b="1" dirty="0">
                <a:solidFill>
                  <a:srgbClr val="8C8C8C"/>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7114032" y="1298448"/>
            <a:ext cx="1517904" cy="457200"/>
          </a:xfrm>
          <a:prstGeom prst="roundRect">
            <a:avLst>
              <a:gd name="adj" fmla="val 18000"/>
            </a:avLst>
          </a:prstGeom>
          <a:solidFill>
            <a:srgbClr val="0A0A0A"/>
          </a:solidFill>
          <a:ln/>
        </p:spPr>
        <p:txBody>
          <a:bodyPr/>
          <a:lstStyle/>
          <a:p>
            <a:endParaRPr lang="en-EG"/>
          </a:p>
        </p:txBody>
      </p:sp>
      <p:sp>
        <p:nvSpPr>
          <p:cNvPr id="17" name="Text 15"/>
          <p:cNvSpPr/>
          <p:nvPr/>
        </p:nvSpPr>
        <p:spPr>
          <a:xfrm>
            <a:off x="7260336" y="1298448"/>
            <a:ext cx="1225296"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STORYBOARD</a:t>
            </a:r>
            <a:endParaRPr lang="en-US" sz="1100" dirty="0"/>
          </a:p>
        </p:txBody>
      </p:sp>
      <p:sp>
        <p:nvSpPr>
          <p:cNvPr id="18" name="Text 16"/>
          <p:cNvSpPr/>
          <p:nvPr/>
        </p:nvSpPr>
        <p:spPr>
          <a:xfrm>
            <a:off x="457200" y="2075688"/>
            <a:ext cx="8229600" cy="731520"/>
          </a:xfrm>
          <a:prstGeom prst="rect">
            <a:avLst/>
          </a:prstGeom>
          <a:noFill/>
          <a:ln/>
        </p:spPr>
        <p:txBody>
          <a:bodyPr wrap="square" lIns="0" tIns="0" rIns="0" bIns="0" rtlCol="0" anchor="t"/>
          <a:lstStyle/>
          <a:p>
            <a:pPr marL="0" indent="0">
              <a:lnSpc>
                <a:spcPts val="2300"/>
              </a:lnSpc>
              <a:buNone/>
            </a:pPr>
            <a:r>
              <a:rPr lang="en-US" sz="1500" b="1" dirty="0">
                <a:solidFill>
                  <a:srgbClr val="0A0A0A"/>
                </a:solidFill>
                <a:latin typeface="Arial" pitchFamily="34" charset="0"/>
                <a:ea typeface="Arial" pitchFamily="34" charset="-122"/>
                <a:cs typeface="Arial" pitchFamily="34" charset="-120"/>
              </a:rPr>
              <a:t>The idea must be describable in one sentence, with no tool name inside it.</a:t>
            </a:r>
            <a:endParaRPr lang="en-US" sz="1500" dirty="0"/>
          </a:p>
          <a:p>
            <a:pPr marL="0" indent="0">
              <a:lnSpc>
                <a:spcPts val="2300"/>
              </a:lnSpc>
              <a:buNone/>
            </a:pPr>
            <a:r>
              <a:rPr lang="en-US" sz="1500" b="1" dirty="0">
                <a:solidFill>
                  <a:srgbClr val="0A0A0A"/>
                </a:solidFill>
                <a:latin typeface="Arial" pitchFamily="34" charset="0"/>
                <a:ea typeface="Arial" pitchFamily="34" charset="-122"/>
                <a:cs typeface="Arial" pitchFamily="34" charset="-120"/>
              </a:rPr>
              <a:t>If your idea needs the tool to be explained, it is not an idea — it is an effect.</a:t>
            </a:r>
            <a:endParaRPr lang="en-US" sz="1500" dirty="0"/>
          </a:p>
        </p:txBody>
      </p:sp>
      <p:sp>
        <p:nvSpPr>
          <p:cNvPr id="19" name="Shape 17"/>
          <p:cNvSpPr/>
          <p:nvPr/>
        </p:nvSpPr>
        <p:spPr>
          <a:xfrm>
            <a:off x="457200" y="2990088"/>
            <a:ext cx="8229600" cy="1234440"/>
          </a:xfrm>
          <a:prstGeom prst="roundRect">
            <a:avLst>
              <a:gd name="adj" fmla="val 5926"/>
            </a:avLst>
          </a:prstGeom>
          <a:solidFill>
            <a:srgbClr val="F6F6F6"/>
          </a:solidFill>
          <a:ln/>
        </p:spPr>
        <p:txBody>
          <a:bodyPr/>
          <a:lstStyle/>
          <a:p>
            <a:endParaRPr lang="en-EG"/>
          </a:p>
        </p:txBody>
      </p:sp>
      <p:sp>
        <p:nvSpPr>
          <p:cNvPr id="20" name="Text 18"/>
          <p:cNvSpPr/>
          <p:nvPr/>
        </p:nvSpPr>
        <p:spPr>
          <a:xfrm>
            <a:off x="685800" y="3145536"/>
            <a:ext cx="7772400" cy="292608"/>
          </a:xfrm>
          <a:prstGeom prst="rect">
            <a:avLst/>
          </a:prstGeom>
          <a:noFill/>
          <a:ln/>
        </p:spPr>
        <p:txBody>
          <a:bodyPr wrap="square" lIns="0" tIns="0" rIns="0" bIns="0" rtlCol="0" anchor="ctr"/>
          <a:lstStyle/>
          <a:p>
            <a:pPr marL="0" indent="0">
              <a:buNone/>
            </a:pPr>
            <a:r>
              <a:rPr lang="en-US" sz="1500" b="1" dirty="0">
                <a:solidFill>
                  <a:srgbClr val="0A0A0A"/>
                </a:solidFill>
                <a:latin typeface="Arial" pitchFamily="34" charset="0"/>
                <a:ea typeface="Arial" pitchFamily="34" charset="-122"/>
                <a:cs typeface="Arial" pitchFamily="34" charset="-120"/>
              </a:rPr>
              <a:t>A prompt is a brief written for a machine.</a:t>
            </a:r>
            <a:endParaRPr lang="en-US" sz="1500" dirty="0"/>
          </a:p>
        </p:txBody>
      </p:sp>
      <p:sp>
        <p:nvSpPr>
          <p:cNvPr id="21" name="Text 19"/>
          <p:cNvSpPr/>
          <p:nvPr/>
        </p:nvSpPr>
        <p:spPr>
          <a:xfrm>
            <a:off x="685800" y="3511296"/>
            <a:ext cx="7772400" cy="640080"/>
          </a:xfrm>
          <a:prstGeom prst="rect">
            <a:avLst/>
          </a:prstGeom>
          <a:noFill/>
          <a:ln/>
        </p:spPr>
        <p:txBody>
          <a:bodyPr wrap="square" lIns="0" tIns="0" rIns="0" bIns="0" rtlCol="0" anchor="t"/>
          <a:lstStyle/>
          <a:p>
            <a:pPr marL="0" indent="0">
              <a:lnSpc>
                <a:spcPts val="1600"/>
              </a:lnSpc>
              <a:buNone/>
            </a:pPr>
            <a:r>
              <a:rPr lang="en-US" sz="1150" dirty="0">
                <a:solidFill>
                  <a:srgbClr val="3A3A3A"/>
                </a:solidFill>
                <a:latin typeface="Arial" pitchFamily="34" charset="0"/>
                <a:ea typeface="Arial" pitchFamily="34" charset="-122"/>
                <a:cs typeface="Arial" pitchFamily="34" charset="-120"/>
              </a:rPr>
              <a:t>Everything that ruins a brief — vagueness, contradiction, missing mandatories, no tone of voice — ruins a prompt in exactly the same way. You are already trained for this. The discipline transfers; only the reader changed.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1417320"/>
            <a:ext cx="1828800" cy="1188720"/>
          </a:xfrm>
          <a:prstGeom prst="rect">
            <a:avLst/>
          </a:prstGeom>
          <a:noFill/>
          <a:ln/>
        </p:spPr>
        <p:txBody>
          <a:bodyPr wrap="square" lIns="0" tIns="0" rIns="0" bIns="0" rtlCol="0" anchor="ctr"/>
          <a:lstStyle/>
          <a:p>
            <a:pPr marL="0" indent="0">
              <a:buNone/>
            </a:pPr>
            <a:r>
              <a:rPr lang="en-US" sz="8400" b="1" dirty="0">
                <a:solidFill>
                  <a:srgbClr val="FFFFFF"/>
                </a:solidFill>
                <a:latin typeface="Arial" pitchFamily="34" charset="0"/>
                <a:ea typeface="Arial" pitchFamily="34" charset="-122"/>
                <a:cs typeface="Arial" pitchFamily="34" charset="-120"/>
              </a:rPr>
              <a:t>02</a:t>
            </a:r>
            <a:endParaRPr lang="en-US" sz="8400" dirty="0"/>
          </a:p>
        </p:txBody>
      </p:sp>
      <p:sp>
        <p:nvSpPr>
          <p:cNvPr id="3" name="Text 1"/>
          <p:cNvSpPr/>
          <p:nvPr/>
        </p:nvSpPr>
        <p:spPr>
          <a:xfrm>
            <a:off x="2331720" y="1691640"/>
            <a:ext cx="6355080" cy="6400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PRE-VISUALIZATION</a:t>
            </a:r>
            <a:endParaRPr lang="en-US" sz="3400" dirty="0"/>
          </a:p>
        </p:txBody>
      </p:sp>
      <p:sp>
        <p:nvSpPr>
          <p:cNvPr id="4" name="Text 2"/>
          <p:cNvSpPr/>
          <p:nvPr/>
        </p:nvSpPr>
        <p:spPr>
          <a:xfrm>
            <a:off x="2359152" y="2395728"/>
            <a:ext cx="6355080" cy="457200"/>
          </a:xfrm>
          <a:prstGeom prst="rect">
            <a:avLst/>
          </a:prstGeom>
          <a:noFill/>
          <a:ln/>
        </p:spPr>
        <p:txBody>
          <a:bodyPr wrap="square" lIns="0" tIns="0" rIns="0" bIns="0" rtlCol="0" anchor="t"/>
          <a:lstStyle/>
          <a:p>
            <a:pPr marL="0" indent="0">
              <a:buNone/>
            </a:pPr>
            <a:r>
              <a:rPr lang="en-US" sz="1200" dirty="0">
                <a:solidFill>
                  <a:srgbClr val="8C8C8C"/>
                </a:solidFill>
                <a:latin typeface="Arial" pitchFamily="34" charset="0"/>
                <a:ea typeface="Arial" pitchFamily="34" charset="-122"/>
                <a:cs typeface="Arial" pitchFamily="34" charset="-120"/>
              </a:rPr>
              <a:t>Turning a script into a plan a machine can execute. Formerly “Strategic Visualization”.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FRAME · SHOT · SCENE</a:t>
            </a:r>
            <a:endParaRPr lang="en-US" sz="3000" dirty="0"/>
          </a:p>
        </p:txBody>
      </p:sp>
      <p:sp>
        <p:nvSpPr>
          <p:cNvPr id="4" name="Shape 2"/>
          <p:cNvSpPr/>
          <p:nvPr/>
        </p:nvSpPr>
        <p:spPr>
          <a:xfrm>
            <a:off x="457200" y="1298448"/>
            <a:ext cx="2624328" cy="1600200"/>
          </a:xfrm>
          <a:prstGeom prst="roundRect">
            <a:avLst>
              <a:gd name="adj" fmla="val 3429"/>
            </a:avLst>
          </a:prstGeom>
          <a:solidFill>
            <a:srgbClr val="F6F6F6"/>
          </a:solidFill>
          <a:ln/>
        </p:spPr>
        <p:txBody>
          <a:bodyPr/>
          <a:lstStyle/>
          <a:p>
            <a:endParaRPr lang="en-EG"/>
          </a:p>
        </p:txBody>
      </p:sp>
      <p:sp>
        <p:nvSpPr>
          <p:cNvPr id="5" name="Text 3"/>
          <p:cNvSpPr/>
          <p:nvPr/>
        </p:nvSpPr>
        <p:spPr>
          <a:xfrm>
            <a:off x="621792" y="1426464"/>
            <a:ext cx="2295144" cy="237744"/>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FRAME</a:t>
            </a:r>
            <a:endParaRPr lang="en-US" sz="1200" dirty="0"/>
          </a:p>
        </p:txBody>
      </p:sp>
      <p:sp>
        <p:nvSpPr>
          <p:cNvPr id="6" name="Text 4"/>
          <p:cNvSpPr/>
          <p:nvPr/>
        </p:nvSpPr>
        <p:spPr>
          <a:xfrm>
            <a:off x="621792" y="1682496"/>
            <a:ext cx="2295144" cy="1088136"/>
          </a:xfrm>
          <a:prstGeom prst="rect">
            <a:avLst/>
          </a:prstGeom>
          <a:noFill/>
          <a:ln/>
        </p:spPr>
        <p:txBody>
          <a:bodyPr wrap="square" lIns="0" tIns="0" rIns="0" bIns="0" rtlCol="0" anchor="t"/>
          <a:lstStyle/>
          <a:p>
            <a:pPr marL="0" indent="0">
              <a:lnSpc>
                <a:spcPts val="1300"/>
              </a:lnSpc>
              <a:buNone/>
            </a:pPr>
            <a:r>
              <a:rPr lang="en-US" sz="1000" dirty="0">
                <a:solidFill>
                  <a:srgbClr val="3A3A3A"/>
                </a:solidFill>
                <a:latin typeface="Arial" pitchFamily="34" charset="0"/>
                <a:ea typeface="Arial" pitchFamily="34" charset="-122"/>
                <a:cs typeface="Arial" pitchFamily="34" charset="-120"/>
              </a:rPr>
              <a:t>The smallest unit — a single still image. At 24 fps you see 24 of them every second. This is what you design.</a:t>
            </a:r>
            <a:endParaRPr lang="en-US" sz="1000" dirty="0"/>
          </a:p>
        </p:txBody>
      </p:sp>
      <p:sp>
        <p:nvSpPr>
          <p:cNvPr id="7" name="Shape 5"/>
          <p:cNvSpPr/>
          <p:nvPr/>
        </p:nvSpPr>
        <p:spPr>
          <a:xfrm>
            <a:off x="3264408" y="1298448"/>
            <a:ext cx="2624328" cy="1600200"/>
          </a:xfrm>
          <a:prstGeom prst="roundRect">
            <a:avLst>
              <a:gd name="adj" fmla="val 3429"/>
            </a:avLst>
          </a:prstGeom>
          <a:solidFill>
            <a:srgbClr val="F6F6F6"/>
          </a:solidFill>
          <a:ln/>
        </p:spPr>
        <p:txBody>
          <a:bodyPr/>
          <a:lstStyle/>
          <a:p>
            <a:endParaRPr lang="en-EG"/>
          </a:p>
        </p:txBody>
      </p:sp>
      <p:sp>
        <p:nvSpPr>
          <p:cNvPr id="8" name="Text 6"/>
          <p:cNvSpPr/>
          <p:nvPr/>
        </p:nvSpPr>
        <p:spPr>
          <a:xfrm>
            <a:off x="3429000" y="1426464"/>
            <a:ext cx="2295144" cy="237744"/>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SHOT</a:t>
            </a:r>
            <a:endParaRPr lang="en-US" sz="1200" dirty="0"/>
          </a:p>
        </p:txBody>
      </p:sp>
      <p:sp>
        <p:nvSpPr>
          <p:cNvPr id="9" name="Text 7"/>
          <p:cNvSpPr/>
          <p:nvPr/>
        </p:nvSpPr>
        <p:spPr>
          <a:xfrm>
            <a:off x="3429000" y="1682496"/>
            <a:ext cx="2295144" cy="1088136"/>
          </a:xfrm>
          <a:prstGeom prst="rect">
            <a:avLst/>
          </a:prstGeom>
          <a:noFill/>
          <a:ln/>
        </p:spPr>
        <p:txBody>
          <a:bodyPr wrap="square" lIns="0" tIns="0" rIns="0" bIns="0" rtlCol="0" anchor="t"/>
          <a:lstStyle/>
          <a:p>
            <a:pPr marL="0" indent="0">
              <a:lnSpc>
                <a:spcPts val="1300"/>
              </a:lnSpc>
              <a:buNone/>
            </a:pPr>
            <a:r>
              <a:rPr lang="en-US" sz="1000" dirty="0">
                <a:solidFill>
                  <a:srgbClr val="3A3A3A"/>
                </a:solidFill>
                <a:latin typeface="Arial" pitchFamily="34" charset="0"/>
                <a:ea typeface="Arial" pitchFamily="34" charset="-122"/>
                <a:cs typeface="Arial" pitchFamily="34" charset="-120"/>
              </a:rPr>
              <a:t>One continuous recording, from “Action” to “Cut”. No cuts inside it. This is what a model generates.</a:t>
            </a:r>
            <a:endParaRPr lang="en-US" sz="1000" dirty="0"/>
          </a:p>
        </p:txBody>
      </p:sp>
      <p:sp>
        <p:nvSpPr>
          <p:cNvPr id="10" name="Shape 8"/>
          <p:cNvSpPr/>
          <p:nvPr/>
        </p:nvSpPr>
        <p:spPr>
          <a:xfrm>
            <a:off x="6071616" y="1298448"/>
            <a:ext cx="2624328" cy="1600200"/>
          </a:xfrm>
          <a:prstGeom prst="roundRect">
            <a:avLst>
              <a:gd name="adj" fmla="val 3429"/>
            </a:avLst>
          </a:prstGeom>
          <a:solidFill>
            <a:srgbClr val="F6F6F6"/>
          </a:solidFill>
          <a:ln/>
        </p:spPr>
        <p:txBody>
          <a:bodyPr/>
          <a:lstStyle/>
          <a:p>
            <a:endParaRPr lang="en-EG"/>
          </a:p>
        </p:txBody>
      </p:sp>
      <p:sp>
        <p:nvSpPr>
          <p:cNvPr id="11" name="Text 9"/>
          <p:cNvSpPr/>
          <p:nvPr/>
        </p:nvSpPr>
        <p:spPr>
          <a:xfrm>
            <a:off x="6236208" y="1426464"/>
            <a:ext cx="2295144" cy="237744"/>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SCENE</a:t>
            </a:r>
            <a:endParaRPr lang="en-US" sz="1200" dirty="0"/>
          </a:p>
        </p:txBody>
      </p:sp>
      <p:sp>
        <p:nvSpPr>
          <p:cNvPr id="12" name="Text 10"/>
          <p:cNvSpPr/>
          <p:nvPr/>
        </p:nvSpPr>
        <p:spPr>
          <a:xfrm>
            <a:off x="6236208" y="1682496"/>
            <a:ext cx="2295144" cy="1088136"/>
          </a:xfrm>
          <a:prstGeom prst="rect">
            <a:avLst/>
          </a:prstGeom>
          <a:noFill/>
          <a:ln/>
        </p:spPr>
        <p:txBody>
          <a:bodyPr wrap="square" lIns="0" tIns="0" rIns="0" bIns="0" rtlCol="0" anchor="t"/>
          <a:lstStyle/>
          <a:p>
            <a:pPr marL="0" indent="0">
              <a:lnSpc>
                <a:spcPts val="1300"/>
              </a:lnSpc>
              <a:buNone/>
            </a:pPr>
            <a:r>
              <a:rPr lang="en-US" sz="1000" dirty="0">
                <a:solidFill>
                  <a:srgbClr val="3A3A3A"/>
                </a:solidFill>
                <a:latin typeface="Arial" pitchFamily="34" charset="0"/>
                <a:ea typeface="Arial" pitchFamily="34" charset="-122"/>
                <a:cs typeface="Arial" pitchFamily="34" charset="-120"/>
              </a:rPr>
              <a:t>A dramatic event in one place, continuous in time. Usually built from several shots. This is what the audience remembers.</a:t>
            </a:r>
            <a:endParaRPr lang="en-US" sz="1000" dirty="0"/>
          </a:p>
        </p:txBody>
      </p:sp>
      <p:sp>
        <p:nvSpPr>
          <p:cNvPr id="13" name="Shape 11"/>
          <p:cNvSpPr/>
          <p:nvPr/>
        </p:nvSpPr>
        <p:spPr>
          <a:xfrm>
            <a:off x="457200" y="3218688"/>
            <a:ext cx="1517904" cy="420624"/>
          </a:xfrm>
          <a:prstGeom prst="roundRect">
            <a:avLst>
              <a:gd name="adj" fmla="val 19565"/>
            </a:avLst>
          </a:prstGeom>
          <a:solidFill>
            <a:srgbClr val="0A0A0A"/>
          </a:solidFill>
          <a:ln/>
        </p:spPr>
        <p:txBody>
          <a:bodyPr/>
          <a:lstStyle/>
          <a:p>
            <a:endParaRPr lang="en-EG"/>
          </a:p>
        </p:txBody>
      </p:sp>
      <p:sp>
        <p:nvSpPr>
          <p:cNvPr id="14" name="Text 12"/>
          <p:cNvSpPr/>
          <p:nvPr/>
        </p:nvSpPr>
        <p:spPr>
          <a:xfrm>
            <a:off x="603504" y="3218688"/>
            <a:ext cx="1225296" cy="420624"/>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FRAME</a:t>
            </a:r>
            <a:endParaRPr lang="en-US" sz="1100" dirty="0"/>
          </a:p>
        </p:txBody>
      </p:sp>
      <p:sp>
        <p:nvSpPr>
          <p:cNvPr id="15" name="Shape 13"/>
          <p:cNvSpPr/>
          <p:nvPr/>
        </p:nvSpPr>
        <p:spPr>
          <a:xfrm>
            <a:off x="2121408" y="3218688"/>
            <a:ext cx="1517904" cy="420624"/>
          </a:xfrm>
          <a:prstGeom prst="roundRect">
            <a:avLst>
              <a:gd name="adj" fmla="val 19565"/>
            </a:avLst>
          </a:prstGeom>
          <a:solidFill>
            <a:srgbClr val="0A0A0A"/>
          </a:solidFill>
          <a:ln/>
        </p:spPr>
        <p:txBody>
          <a:bodyPr/>
          <a:lstStyle/>
          <a:p>
            <a:endParaRPr lang="en-EG"/>
          </a:p>
        </p:txBody>
      </p:sp>
      <p:sp>
        <p:nvSpPr>
          <p:cNvPr id="16" name="Text 14"/>
          <p:cNvSpPr/>
          <p:nvPr/>
        </p:nvSpPr>
        <p:spPr>
          <a:xfrm>
            <a:off x="2267712" y="3218688"/>
            <a:ext cx="1225296" cy="420624"/>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SHOT</a:t>
            </a:r>
            <a:endParaRPr lang="en-US" sz="1100" dirty="0"/>
          </a:p>
        </p:txBody>
      </p:sp>
      <p:sp>
        <p:nvSpPr>
          <p:cNvPr id="17" name="Shape 15"/>
          <p:cNvSpPr/>
          <p:nvPr/>
        </p:nvSpPr>
        <p:spPr>
          <a:xfrm>
            <a:off x="3785616" y="3218688"/>
            <a:ext cx="1517904" cy="420624"/>
          </a:xfrm>
          <a:prstGeom prst="roundRect">
            <a:avLst>
              <a:gd name="adj" fmla="val 19565"/>
            </a:avLst>
          </a:prstGeom>
          <a:solidFill>
            <a:srgbClr val="0A0A0A"/>
          </a:solidFill>
          <a:ln/>
        </p:spPr>
        <p:txBody>
          <a:bodyPr/>
          <a:lstStyle/>
          <a:p>
            <a:endParaRPr lang="en-EG"/>
          </a:p>
        </p:txBody>
      </p:sp>
      <p:sp>
        <p:nvSpPr>
          <p:cNvPr id="18" name="Text 16"/>
          <p:cNvSpPr/>
          <p:nvPr/>
        </p:nvSpPr>
        <p:spPr>
          <a:xfrm>
            <a:off x="3931920" y="3218688"/>
            <a:ext cx="1225296" cy="420624"/>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SCENE</a:t>
            </a:r>
            <a:endParaRPr lang="en-US" sz="1100" dirty="0"/>
          </a:p>
        </p:txBody>
      </p:sp>
      <p:sp>
        <p:nvSpPr>
          <p:cNvPr id="19" name="Shape 17"/>
          <p:cNvSpPr/>
          <p:nvPr/>
        </p:nvSpPr>
        <p:spPr>
          <a:xfrm>
            <a:off x="5449824" y="3218688"/>
            <a:ext cx="1517904" cy="420624"/>
          </a:xfrm>
          <a:prstGeom prst="roundRect">
            <a:avLst>
              <a:gd name="adj" fmla="val 19565"/>
            </a:avLst>
          </a:prstGeom>
          <a:solidFill>
            <a:srgbClr val="0A0A0A"/>
          </a:solidFill>
          <a:ln/>
        </p:spPr>
        <p:txBody>
          <a:bodyPr/>
          <a:lstStyle/>
          <a:p>
            <a:endParaRPr lang="en-EG"/>
          </a:p>
        </p:txBody>
      </p:sp>
      <p:sp>
        <p:nvSpPr>
          <p:cNvPr id="20" name="Text 18"/>
          <p:cNvSpPr/>
          <p:nvPr/>
        </p:nvSpPr>
        <p:spPr>
          <a:xfrm>
            <a:off x="5596128" y="3218688"/>
            <a:ext cx="1225296" cy="420624"/>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SEQUENCE</a:t>
            </a:r>
            <a:endParaRPr lang="en-US" sz="1100" dirty="0"/>
          </a:p>
        </p:txBody>
      </p:sp>
      <p:sp>
        <p:nvSpPr>
          <p:cNvPr id="21" name="Shape 19"/>
          <p:cNvSpPr/>
          <p:nvPr/>
        </p:nvSpPr>
        <p:spPr>
          <a:xfrm>
            <a:off x="7114032" y="3218688"/>
            <a:ext cx="1517904" cy="420624"/>
          </a:xfrm>
          <a:prstGeom prst="roundRect">
            <a:avLst>
              <a:gd name="adj" fmla="val 19565"/>
            </a:avLst>
          </a:prstGeom>
          <a:solidFill>
            <a:srgbClr val="0A0A0A"/>
          </a:solidFill>
          <a:ln/>
        </p:spPr>
        <p:txBody>
          <a:bodyPr/>
          <a:lstStyle/>
          <a:p>
            <a:endParaRPr lang="en-EG"/>
          </a:p>
        </p:txBody>
      </p:sp>
      <p:sp>
        <p:nvSpPr>
          <p:cNvPr id="22" name="Text 20"/>
          <p:cNvSpPr/>
          <p:nvPr/>
        </p:nvSpPr>
        <p:spPr>
          <a:xfrm>
            <a:off x="7260336" y="3218688"/>
            <a:ext cx="1225296" cy="420624"/>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FILM</a:t>
            </a:r>
            <a:endParaRPr lang="en-US" sz="1100" dirty="0"/>
          </a:p>
        </p:txBody>
      </p:sp>
      <p:sp>
        <p:nvSpPr>
          <p:cNvPr id="23" name="Text 21"/>
          <p:cNvSpPr/>
          <p:nvPr/>
        </p:nvSpPr>
        <p:spPr>
          <a:xfrm>
            <a:off x="457200" y="3813048"/>
            <a:ext cx="8229600" cy="457200"/>
          </a:xfrm>
          <a:prstGeom prst="rect">
            <a:avLst/>
          </a:prstGeom>
          <a:noFill/>
          <a:ln/>
        </p:spPr>
        <p:txBody>
          <a:bodyPr wrap="square" lIns="0" tIns="0" rIns="0" bIns="0" rtlCol="0" anchor="t"/>
          <a:lstStyle/>
          <a:p>
            <a:pPr marL="0" indent="0">
              <a:buNone/>
            </a:pPr>
            <a:r>
              <a:rPr lang="en-US" sz="1250" b="1" i="1" dirty="0">
                <a:solidFill>
                  <a:srgbClr val="0A0A0A"/>
                </a:solidFill>
                <a:latin typeface="Arial" pitchFamily="34" charset="0"/>
                <a:ea typeface="Arial" pitchFamily="34" charset="-122"/>
                <a:cs typeface="Arial" pitchFamily="34" charset="-120"/>
              </a:rPr>
              <a:t>Hierarchy is read bottom-up.  Production is planned top-down: Script › Scenes › Shot list › Frames.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FIVE AXES OF A SHOT</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3127500426"/>
              </p:ext>
            </p:extLst>
          </p:nvPr>
        </p:nvGraphicFramePr>
        <p:xfrm>
          <a:off x="462013" y="1298448"/>
          <a:ext cx="8224787" cy="2583180"/>
        </p:xfrm>
        <a:graphic>
          <a:graphicData uri="http://schemas.openxmlformats.org/drawingml/2006/table">
            <a:tbl>
              <a:tblPr/>
              <a:tblGrid>
                <a:gridCol w="1549667">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02336">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AXIS</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OPTIONS</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WHAT IT CONTROLS</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402336">
                <a:tc>
                  <a:txBody>
                    <a:bodyPr/>
                    <a:lstStyle/>
                    <a:p>
                      <a:pPr marL="0" indent="0">
                        <a:buNone/>
                      </a:pPr>
                      <a:r>
                        <a:rPr lang="en-US" sz="1050" dirty="0">
                          <a:solidFill>
                            <a:srgbClr val="1F1F1F"/>
                          </a:solidFill>
                          <a:latin typeface="Arial" pitchFamily="34" charset="0"/>
                          <a:ea typeface="Arial" pitchFamily="34" charset="-122"/>
                          <a:cs typeface="Arial" pitchFamily="34" charset="-120"/>
                        </a:rPr>
                        <a:t>Shot size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ECU · CU · MCU · MS · MLS · WS · EWS</a:t>
                      </a:r>
                      <a:br>
                        <a:rPr lang="en-US" sz="1050" dirty="0">
                          <a:solidFill>
                            <a:srgbClr val="1F1F1F"/>
                          </a:solidFill>
                          <a:latin typeface="Arial" pitchFamily="34" charset="0"/>
                          <a:ea typeface="Arial" pitchFamily="34" charset="-122"/>
                          <a:cs typeface="Arial" pitchFamily="34" charset="-120"/>
                        </a:rPr>
                      </a:br>
                      <a:r>
                        <a:rPr lang="en-EG" sz="1050" dirty="0"/>
                        <a:t>Extreme Close Up – Close up - Medium close up  - Medium shot – Medium long shot – wide shot – extra wide shot </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How much we see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050" dirty="0">
                          <a:solidFill>
                            <a:srgbClr val="1F1F1F"/>
                          </a:solidFill>
                          <a:latin typeface="Arial" pitchFamily="34" charset="0"/>
                          <a:ea typeface="Arial" pitchFamily="34" charset="-122"/>
                          <a:cs typeface="Arial" pitchFamily="34" charset="-120"/>
                        </a:rPr>
                        <a:t>Camera angle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Eye · High · Low · Overhead · Dutch</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How we feel about the subject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050" dirty="0">
                          <a:solidFill>
                            <a:srgbClr val="1F1F1F"/>
                          </a:solidFill>
                          <a:latin typeface="Arial" pitchFamily="34" charset="0"/>
                          <a:ea typeface="Arial" pitchFamily="34" charset="-122"/>
                          <a:cs typeface="Arial" pitchFamily="34" charset="-120"/>
                        </a:rPr>
                        <a:t>Camera movement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Static · Push-in · Pull-out · Pan · Tilt · Track · Orbit · Handheld</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How the frame changes</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050" dirty="0">
                          <a:solidFill>
                            <a:srgbClr val="1F1F1F"/>
                          </a:solidFill>
                          <a:latin typeface="Arial" pitchFamily="34" charset="0"/>
                          <a:ea typeface="Arial" pitchFamily="34" charset="-122"/>
                          <a:cs typeface="Arial" pitchFamily="34" charset="-120"/>
                        </a:rPr>
                        <a:t>Lens</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24mm wide · 35mm natural · 50mm neutral · 85mm portrait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Depth and distortion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050" dirty="0">
                          <a:solidFill>
                            <a:srgbClr val="1F1F1F"/>
                          </a:solidFill>
                          <a:latin typeface="Arial" pitchFamily="34" charset="0"/>
                          <a:ea typeface="Arial" pitchFamily="34" charset="-122"/>
                          <a:cs typeface="Arial" pitchFamily="34" charset="-120"/>
                        </a:rPr>
                        <a:t>Time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Real-time · Slow motion · Time-lapse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Internal rhythm</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57200" y="3991157"/>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These are five independent axes. “Tracking” is a movement, not a shot size. “Slow motion” is a time treatment, not a shot type.</a:t>
            </a:r>
            <a:endParaRPr lang="en-US" sz="1150" dirty="0"/>
          </a:p>
        </p:txBody>
      </p:sp>
      <p:sp>
        <p:nvSpPr>
          <p:cNvPr id="6" name="Text 3"/>
          <p:cNvSpPr/>
          <p:nvPr/>
        </p:nvSpPr>
        <p:spPr>
          <a:xfrm>
            <a:off x="457200" y="4334256"/>
            <a:ext cx="8229600" cy="365760"/>
          </a:xfrm>
          <a:prstGeom prst="rect">
            <a:avLst/>
          </a:prstGeom>
          <a:noFill/>
          <a:ln/>
        </p:spPr>
        <p:txBody>
          <a:bodyPr wrap="square" lIns="0" tIns="0" rIns="0" bIns="0" rtlCol="0" anchor="ctr"/>
          <a:lstStyle/>
          <a:p>
            <a:pPr marL="0" indent="0">
              <a:buNone/>
            </a:pPr>
            <a:r>
              <a:rPr lang="en-US" sz="1050" dirty="0">
                <a:solidFill>
                  <a:srgbClr val="8C8C8C"/>
                </a:solidFill>
                <a:latin typeface="Arial" pitchFamily="34" charset="0"/>
                <a:ea typeface="Arial" pitchFamily="34" charset="-122"/>
                <a:cs typeface="Arial" pitchFamily="34" charset="-120"/>
              </a:rPr>
              <a:t>Rule of thumb: one shot = one camera movement. Two movements in five seconds is chaos, both for the model and for the viewer.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D77939A0-B821-AB80-3242-70ABADDFD43B}"/>
              </a:ext>
            </a:extLst>
          </p:cNvPr>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STORYBOARD SHEET</a:t>
            </a:r>
            <a:endParaRPr lang="en-US" sz="3000" dirty="0"/>
          </a:p>
        </p:txBody>
      </p:sp>
      <p:sp>
        <p:nvSpPr>
          <p:cNvPr id="6" name="Text 2">
            <a:extLst>
              <a:ext uri="{FF2B5EF4-FFF2-40B4-BE49-F238E27FC236}">
                <a16:creationId xmlns:a16="http://schemas.microsoft.com/office/drawing/2014/main" id="{8DACA45A-9861-AC5D-0726-8063A8A557A4}"/>
              </a:ext>
            </a:extLst>
          </p:cNvPr>
          <p:cNvSpPr/>
          <p:nvPr/>
        </p:nvSpPr>
        <p:spPr>
          <a:xfrm>
            <a:off x="457200" y="1152144"/>
            <a:ext cx="8229600" cy="256032"/>
          </a:xfrm>
          <a:prstGeom prst="rect">
            <a:avLst/>
          </a:prstGeom>
          <a:noFill/>
          <a:ln/>
        </p:spPr>
        <p:txBody>
          <a:bodyPr wrap="square" lIns="0" tIns="0" rIns="0" bIns="0" rtlCol="0" anchor="ctr"/>
          <a:lstStyle/>
          <a:p>
            <a:pPr marL="0" indent="0">
              <a:buNone/>
            </a:pPr>
            <a:r>
              <a:rPr lang="en-US" sz="1200" dirty="0">
                <a:solidFill>
                  <a:srgbClr val="3A3A3A"/>
                </a:solidFill>
                <a:latin typeface="Arial" pitchFamily="34" charset="0"/>
                <a:ea typeface="Arial" pitchFamily="34" charset="-122"/>
                <a:cs typeface="Arial" pitchFamily="34" charset="-120"/>
              </a:rPr>
              <a:t>Every column on the sheet answers one of four questions.</a:t>
            </a:r>
            <a:endParaRPr lang="en-US" sz="1200" dirty="0"/>
          </a:p>
        </p:txBody>
      </p:sp>
      <p:sp>
        <p:nvSpPr>
          <p:cNvPr id="7" name="Shape 3">
            <a:extLst>
              <a:ext uri="{FF2B5EF4-FFF2-40B4-BE49-F238E27FC236}">
                <a16:creationId xmlns:a16="http://schemas.microsoft.com/office/drawing/2014/main" id="{3B4F95E5-4DB5-37D6-B5DF-D07B571576DE}"/>
              </a:ext>
            </a:extLst>
          </p:cNvPr>
          <p:cNvSpPr/>
          <p:nvPr/>
        </p:nvSpPr>
        <p:spPr>
          <a:xfrm>
            <a:off x="457200" y="1444752"/>
            <a:ext cx="4023360" cy="1389888"/>
          </a:xfrm>
          <a:prstGeom prst="roundRect">
            <a:avLst>
              <a:gd name="adj" fmla="val 5263"/>
            </a:avLst>
          </a:prstGeom>
          <a:solidFill>
            <a:srgbClr val="F6F6F6"/>
          </a:solidFill>
          <a:ln/>
        </p:spPr>
        <p:txBody>
          <a:bodyPr/>
          <a:lstStyle/>
          <a:p>
            <a:endParaRPr lang="en-EG"/>
          </a:p>
        </p:txBody>
      </p:sp>
      <p:sp>
        <p:nvSpPr>
          <p:cNvPr id="8" name="Shape 4">
            <a:extLst>
              <a:ext uri="{FF2B5EF4-FFF2-40B4-BE49-F238E27FC236}">
                <a16:creationId xmlns:a16="http://schemas.microsoft.com/office/drawing/2014/main" id="{8B42716C-3C2B-32FC-799D-31E2830516D4}"/>
              </a:ext>
            </a:extLst>
          </p:cNvPr>
          <p:cNvSpPr/>
          <p:nvPr/>
        </p:nvSpPr>
        <p:spPr>
          <a:xfrm>
            <a:off x="658368" y="1627632"/>
            <a:ext cx="310896" cy="310896"/>
          </a:xfrm>
          <a:prstGeom prst="roundRect">
            <a:avLst>
              <a:gd name="adj" fmla="val 23529"/>
            </a:avLst>
          </a:prstGeom>
          <a:solidFill>
            <a:srgbClr val="0A0A0A"/>
          </a:solidFill>
          <a:ln/>
        </p:spPr>
        <p:txBody>
          <a:bodyPr/>
          <a:lstStyle/>
          <a:p>
            <a:endParaRPr lang="en-EG"/>
          </a:p>
        </p:txBody>
      </p:sp>
      <p:sp>
        <p:nvSpPr>
          <p:cNvPr id="9" name="Text 5">
            <a:extLst>
              <a:ext uri="{FF2B5EF4-FFF2-40B4-BE49-F238E27FC236}">
                <a16:creationId xmlns:a16="http://schemas.microsoft.com/office/drawing/2014/main" id="{CD867F90-838F-2E74-F696-BF96959DF2B7}"/>
              </a:ext>
            </a:extLst>
          </p:cNvPr>
          <p:cNvSpPr/>
          <p:nvPr/>
        </p:nvSpPr>
        <p:spPr>
          <a:xfrm>
            <a:off x="658368" y="162763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0" name="Text 6">
            <a:extLst>
              <a:ext uri="{FF2B5EF4-FFF2-40B4-BE49-F238E27FC236}">
                <a16:creationId xmlns:a16="http://schemas.microsoft.com/office/drawing/2014/main" id="{E0252C4F-7AF2-A059-783A-47CF660C0316}"/>
              </a:ext>
            </a:extLst>
          </p:cNvPr>
          <p:cNvSpPr/>
          <p:nvPr/>
        </p:nvSpPr>
        <p:spPr>
          <a:xfrm>
            <a:off x="1060704" y="1627632"/>
            <a:ext cx="3218688" cy="310896"/>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ADDRESS</a:t>
            </a:r>
            <a:endParaRPr lang="en-US" sz="1400" dirty="0"/>
          </a:p>
        </p:txBody>
      </p:sp>
      <p:sp>
        <p:nvSpPr>
          <p:cNvPr id="11" name="Text 7">
            <a:extLst>
              <a:ext uri="{FF2B5EF4-FFF2-40B4-BE49-F238E27FC236}">
                <a16:creationId xmlns:a16="http://schemas.microsoft.com/office/drawing/2014/main" id="{0C166440-9DE9-6F40-260F-24A71F23155A}"/>
              </a:ext>
            </a:extLst>
          </p:cNvPr>
          <p:cNvSpPr/>
          <p:nvPr/>
        </p:nvSpPr>
        <p:spPr>
          <a:xfrm>
            <a:off x="658368" y="1993392"/>
            <a:ext cx="3621024" cy="402336"/>
          </a:xfrm>
          <a:prstGeom prst="rect">
            <a:avLst/>
          </a:prstGeom>
          <a:noFill/>
          <a:ln/>
        </p:spPr>
        <p:txBody>
          <a:bodyPr wrap="square" lIns="0" tIns="0" rIns="0" bIns="0" rtlCol="0" anchor="t"/>
          <a:lstStyle/>
          <a:p>
            <a:pPr marL="0" indent="0">
              <a:lnSpc>
                <a:spcPts val="1400"/>
              </a:lnSpc>
              <a:buNone/>
            </a:pPr>
            <a:r>
              <a:rPr lang="en-US" sz="1100" b="1" dirty="0">
                <a:solidFill>
                  <a:srgbClr val="1F1F1F"/>
                </a:solidFill>
                <a:latin typeface="Arial" pitchFamily="34" charset="0"/>
                <a:ea typeface="Arial" pitchFamily="34" charset="-122"/>
                <a:cs typeface="Arial" pitchFamily="34" charset="-120"/>
              </a:rPr>
              <a:t>Frame # · Scene · Duration (sec) · Aspect · Asset ID</a:t>
            </a:r>
            <a:endParaRPr lang="en-US" sz="1100" dirty="0"/>
          </a:p>
        </p:txBody>
      </p:sp>
      <p:sp>
        <p:nvSpPr>
          <p:cNvPr id="12" name="Text 8">
            <a:extLst>
              <a:ext uri="{FF2B5EF4-FFF2-40B4-BE49-F238E27FC236}">
                <a16:creationId xmlns:a16="http://schemas.microsoft.com/office/drawing/2014/main" id="{7CE3ACBD-E7DA-DB71-AB5A-172058F3E125}"/>
              </a:ext>
            </a:extLst>
          </p:cNvPr>
          <p:cNvSpPr/>
          <p:nvPr/>
        </p:nvSpPr>
        <p:spPr>
          <a:xfrm>
            <a:off x="658368" y="2414016"/>
            <a:ext cx="3621024" cy="365760"/>
          </a:xfrm>
          <a:prstGeom prst="rect">
            <a:avLst/>
          </a:prstGeom>
          <a:noFill/>
          <a:ln/>
        </p:spPr>
        <p:txBody>
          <a:bodyPr wrap="square" lIns="0" tIns="0" rIns="0" bIns="0" rtlCol="0" anchor="t"/>
          <a:lstStyle/>
          <a:p>
            <a:pPr marL="0" indent="0">
              <a:lnSpc>
                <a:spcPts val="1200"/>
              </a:lnSpc>
              <a:buNone/>
            </a:pPr>
            <a:r>
              <a:rPr lang="en-US" sz="950" dirty="0">
                <a:solidFill>
                  <a:srgbClr val="8C8C8C"/>
                </a:solidFill>
                <a:latin typeface="Arial" pitchFamily="34" charset="0"/>
                <a:ea typeface="Arial" pitchFamily="34" charset="-122"/>
                <a:cs typeface="Arial" pitchFamily="34" charset="-120"/>
              </a:rPr>
              <a:t>Where the shot sits, how long it runs, and what the file will be called.</a:t>
            </a:r>
            <a:endParaRPr lang="en-US" sz="950" dirty="0"/>
          </a:p>
        </p:txBody>
      </p:sp>
      <p:sp>
        <p:nvSpPr>
          <p:cNvPr id="13" name="Shape 9">
            <a:extLst>
              <a:ext uri="{FF2B5EF4-FFF2-40B4-BE49-F238E27FC236}">
                <a16:creationId xmlns:a16="http://schemas.microsoft.com/office/drawing/2014/main" id="{B0821169-6141-D803-A158-FFE1DE31AB07}"/>
              </a:ext>
            </a:extLst>
          </p:cNvPr>
          <p:cNvSpPr/>
          <p:nvPr/>
        </p:nvSpPr>
        <p:spPr>
          <a:xfrm>
            <a:off x="4663440" y="1444752"/>
            <a:ext cx="4023360" cy="1389888"/>
          </a:xfrm>
          <a:prstGeom prst="roundRect">
            <a:avLst>
              <a:gd name="adj" fmla="val 5263"/>
            </a:avLst>
          </a:prstGeom>
          <a:solidFill>
            <a:srgbClr val="F6F6F6"/>
          </a:solidFill>
          <a:ln/>
        </p:spPr>
        <p:txBody>
          <a:bodyPr/>
          <a:lstStyle/>
          <a:p>
            <a:endParaRPr lang="en-EG"/>
          </a:p>
        </p:txBody>
      </p:sp>
      <p:sp>
        <p:nvSpPr>
          <p:cNvPr id="14" name="Shape 10">
            <a:extLst>
              <a:ext uri="{FF2B5EF4-FFF2-40B4-BE49-F238E27FC236}">
                <a16:creationId xmlns:a16="http://schemas.microsoft.com/office/drawing/2014/main" id="{7329415B-1CA9-E45B-2F32-5B10F20AAE6B}"/>
              </a:ext>
            </a:extLst>
          </p:cNvPr>
          <p:cNvSpPr/>
          <p:nvPr/>
        </p:nvSpPr>
        <p:spPr>
          <a:xfrm>
            <a:off x="4864608" y="1627632"/>
            <a:ext cx="310896" cy="310896"/>
          </a:xfrm>
          <a:prstGeom prst="roundRect">
            <a:avLst>
              <a:gd name="adj" fmla="val 23529"/>
            </a:avLst>
          </a:prstGeom>
          <a:solidFill>
            <a:srgbClr val="0A0A0A"/>
          </a:solidFill>
          <a:ln/>
        </p:spPr>
        <p:txBody>
          <a:bodyPr/>
          <a:lstStyle/>
          <a:p>
            <a:endParaRPr lang="en-EG"/>
          </a:p>
        </p:txBody>
      </p:sp>
      <p:sp>
        <p:nvSpPr>
          <p:cNvPr id="16" name="Text 11">
            <a:extLst>
              <a:ext uri="{FF2B5EF4-FFF2-40B4-BE49-F238E27FC236}">
                <a16:creationId xmlns:a16="http://schemas.microsoft.com/office/drawing/2014/main" id="{D08C53BC-85FD-7336-D9D5-03B29FE5F8D6}"/>
              </a:ext>
            </a:extLst>
          </p:cNvPr>
          <p:cNvSpPr/>
          <p:nvPr/>
        </p:nvSpPr>
        <p:spPr>
          <a:xfrm>
            <a:off x="4864608" y="1627632"/>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7" name="Text 12">
            <a:extLst>
              <a:ext uri="{FF2B5EF4-FFF2-40B4-BE49-F238E27FC236}">
                <a16:creationId xmlns:a16="http://schemas.microsoft.com/office/drawing/2014/main" id="{85E3AC87-86FC-99E4-C931-28DFD1A38100}"/>
              </a:ext>
            </a:extLst>
          </p:cNvPr>
          <p:cNvSpPr/>
          <p:nvPr/>
        </p:nvSpPr>
        <p:spPr>
          <a:xfrm>
            <a:off x="5266944" y="1627632"/>
            <a:ext cx="3218688" cy="310896"/>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VISUAL DECISION</a:t>
            </a:r>
            <a:endParaRPr lang="en-US" sz="1400" dirty="0"/>
          </a:p>
        </p:txBody>
      </p:sp>
      <p:sp>
        <p:nvSpPr>
          <p:cNvPr id="18" name="Text 13">
            <a:extLst>
              <a:ext uri="{FF2B5EF4-FFF2-40B4-BE49-F238E27FC236}">
                <a16:creationId xmlns:a16="http://schemas.microsoft.com/office/drawing/2014/main" id="{D2B941D4-3871-A81F-4A17-D11341811C20}"/>
              </a:ext>
            </a:extLst>
          </p:cNvPr>
          <p:cNvSpPr/>
          <p:nvPr/>
        </p:nvSpPr>
        <p:spPr>
          <a:xfrm>
            <a:off x="4864608" y="1993392"/>
            <a:ext cx="3621024" cy="402336"/>
          </a:xfrm>
          <a:prstGeom prst="rect">
            <a:avLst/>
          </a:prstGeom>
          <a:noFill/>
          <a:ln/>
        </p:spPr>
        <p:txBody>
          <a:bodyPr wrap="square" lIns="0" tIns="0" rIns="0" bIns="0" rtlCol="0" anchor="t"/>
          <a:lstStyle/>
          <a:p>
            <a:pPr marL="0" indent="0">
              <a:lnSpc>
                <a:spcPts val="1400"/>
              </a:lnSpc>
              <a:buNone/>
            </a:pPr>
            <a:r>
              <a:rPr lang="en-US" sz="1100" b="1" dirty="0">
                <a:solidFill>
                  <a:srgbClr val="1F1F1F"/>
                </a:solidFill>
                <a:latin typeface="Arial" pitchFamily="34" charset="0"/>
                <a:ea typeface="Arial" pitchFamily="34" charset="-122"/>
                <a:cs typeface="Arial" pitchFamily="34" charset="-120"/>
              </a:rPr>
              <a:t>Shot size · Camera angle · Camera movement · Lens</a:t>
            </a:r>
            <a:endParaRPr lang="en-US" sz="1100" dirty="0"/>
          </a:p>
        </p:txBody>
      </p:sp>
      <p:sp>
        <p:nvSpPr>
          <p:cNvPr id="19" name="Text 14">
            <a:extLst>
              <a:ext uri="{FF2B5EF4-FFF2-40B4-BE49-F238E27FC236}">
                <a16:creationId xmlns:a16="http://schemas.microsoft.com/office/drawing/2014/main" id="{7A4763C4-DCE9-9398-E144-889F31D3E8F0}"/>
              </a:ext>
            </a:extLst>
          </p:cNvPr>
          <p:cNvSpPr/>
          <p:nvPr/>
        </p:nvSpPr>
        <p:spPr>
          <a:xfrm>
            <a:off x="4864608" y="2414016"/>
            <a:ext cx="3621024" cy="365760"/>
          </a:xfrm>
          <a:prstGeom prst="rect">
            <a:avLst/>
          </a:prstGeom>
          <a:noFill/>
          <a:ln/>
        </p:spPr>
        <p:txBody>
          <a:bodyPr wrap="square" lIns="0" tIns="0" rIns="0" bIns="0" rtlCol="0" anchor="t"/>
          <a:lstStyle/>
          <a:p>
            <a:pPr marL="0" indent="0">
              <a:lnSpc>
                <a:spcPts val="1200"/>
              </a:lnSpc>
              <a:buNone/>
            </a:pPr>
            <a:r>
              <a:rPr lang="en-US" sz="950" dirty="0">
                <a:solidFill>
                  <a:srgbClr val="8C8C8C"/>
                </a:solidFill>
                <a:latin typeface="Arial" pitchFamily="34" charset="0"/>
                <a:ea typeface="Arial" pitchFamily="34" charset="-122"/>
                <a:cs typeface="Arial" pitchFamily="34" charset="-120"/>
              </a:rPr>
              <a:t>The four deliberate choices that build the frame.</a:t>
            </a:r>
            <a:endParaRPr lang="en-US" sz="950" dirty="0"/>
          </a:p>
        </p:txBody>
      </p:sp>
      <p:sp>
        <p:nvSpPr>
          <p:cNvPr id="20" name="Shape 15">
            <a:extLst>
              <a:ext uri="{FF2B5EF4-FFF2-40B4-BE49-F238E27FC236}">
                <a16:creationId xmlns:a16="http://schemas.microsoft.com/office/drawing/2014/main" id="{A14C3F5B-A6B4-C0D2-C0C9-327B82A5333F}"/>
              </a:ext>
            </a:extLst>
          </p:cNvPr>
          <p:cNvSpPr/>
          <p:nvPr/>
        </p:nvSpPr>
        <p:spPr>
          <a:xfrm>
            <a:off x="457200" y="2980944"/>
            <a:ext cx="4023360" cy="1389888"/>
          </a:xfrm>
          <a:prstGeom prst="roundRect">
            <a:avLst>
              <a:gd name="adj" fmla="val 5263"/>
            </a:avLst>
          </a:prstGeom>
          <a:solidFill>
            <a:srgbClr val="F6F6F6"/>
          </a:solidFill>
          <a:ln/>
        </p:spPr>
        <p:txBody>
          <a:bodyPr/>
          <a:lstStyle/>
          <a:p>
            <a:endParaRPr lang="en-EG"/>
          </a:p>
        </p:txBody>
      </p:sp>
      <p:sp>
        <p:nvSpPr>
          <p:cNvPr id="21" name="Shape 16">
            <a:extLst>
              <a:ext uri="{FF2B5EF4-FFF2-40B4-BE49-F238E27FC236}">
                <a16:creationId xmlns:a16="http://schemas.microsoft.com/office/drawing/2014/main" id="{CA3118C5-882C-A042-2DAB-26F07D9363CC}"/>
              </a:ext>
            </a:extLst>
          </p:cNvPr>
          <p:cNvSpPr/>
          <p:nvPr/>
        </p:nvSpPr>
        <p:spPr>
          <a:xfrm>
            <a:off x="658368" y="3163824"/>
            <a:ext cx="310896" cy="310896"/>
          </a:xfrm>
          <a:prstGeom prst="roundRect">
            <a:avLst>
              <a:gd name="adj" fmla="val 23529"/>
            </a:avLst>
          </a:prstGeom>
          <a:solidFill>
            <a:srgbClr val="0A0A0A"/>
          </a:solidFill>
          <a:ln/>
        </p:spPr>
        <p:txBody>
          <a:bodyPr/>
          <a:lstStyle/>
          <a:p>
            <a:endParaRPr lang="en-EG"/>
          </a:p>
        </p:txBody>
      </p:sp>
      <p:sp>
        <p:nvSpPr>
          <p:cNvPr id="22" name="Text 17">
            <a:extLst>
              <a:ext uri="{FF2B5EF4-FFF2-40B4-BE49-F238E27FC236}">
                <a16:creationId xmlns:a16="http://schemas.microsoft.com/office/drawing/2014/main" id="{3956F2CA-B8A8-EEC2-7308-5E6381EAF548}"/>
              </a:ext>
            </a:extLst>
          </p:cNvPr>
          <p:cNvSpPr/>
          <p:nvPr/>
        </p:nvSpPr>
        <p:spPr>
          <a:xfrm>
            <a:off x="658368" y="316382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3" name="Text 18">
            <a:extLst>
              <a:ext uri="{FF2B5EF4-FFF2-40B4-BE49-F238E27FC236}">
                <a16:creationId xmlns:a16="http://schemas.microsoft.com/office/drawing/2014/main" id="{41CE5AAD-8E8E-2EAE-C6A4-B01D5134E1DF}"/>
              </a:ext>
            </a:extLst>
          </p:cNvPr>
          <p:cNvSpPr/>
          <p:nvPr/>
        </p:nvSpPr>
        <p:spPr>
          <a:xfrm>
            <a:off x="1060704" y="3163824"/>
            <a:ext cx="3218688" cy="310896"/>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MEANING</a:t>
            </a:r>
            <a:endParaRPr lang="en-US" sz="1400" dirty="0"/>
          </a:p>
        </p:txBody>
      </p:sp>
      <p:sp>
        <p:nvSpPr>
          <p:cNvPr id="24" name="Text 19">
            <a:extLst>
              <a:ext uri="{FF2B5EF4-FFF2-40B4-BE49-F238E27FC236}">
                <a16:creationId xmlns:a16="http://schemas.microsoft.com/office/drawing/2014/main" id="{4353D88D-1084-76DF-B323-036BB70EDB8E}"/>
              </a:ext>
            </a:extLst>
          </p:cNvPr>
          <p:cNvSpPr/>
          <p:nvPr/>
        </p:nvSpPr>
        <p:spPr>
          <a:xfrm>
            <a:off x="658368" y="3529584"/>
            <a:ext cx="3621024" cy="402336"/>
          </a:xfrm>
          <a:prstGeom prst="rect">
            <a:avLst/>
          </a:prstGeom>
          <a:noFill/>
          <a:ln/>
        </p:spPr>
        <p:txBody>
          <a:bodyPr wrap="square" lIns="0" tIns="0" rIns="0" bIns="0" rtlCol="0" anchor="t"/>
          <a:lstStyle/>
          <a:p>
            <a:pPr marL="0" indent="0">
              <a:lnSpc>
                <a:spcPts val="1400"/>
              </a:lnSpc>
              <a:buNone/>
            </a:pPr>
            <a:r>
              <a:rPr lang="en-US" sz="1100" b="1" dirty="0">
                <a:solidFill>
                  <a:srgbClr val="1F1F1F"/>
                </a:solidFill>
                <a:latin typeface="Arial" pitchFamily="34" charset="0"/>
                <a:ea typeface="Arial" pitchFamily="34" charset="-122"/>
                <a:cs typeface="Arial" pitchFamily="34" charset="-120"/>
              </a:rPr>
              <a:t>Visual description · VO / on-screen text · SFX &amp; music · Mood</a:t>
            </a:r>
            <a:endParaRPr lang="en-US" sz="1100" dirty="0"/>
          </a:p>
        </p:txBody>
      </p:sp>
      <p:sp>
        <p:nvSpPr>
          <p:cNvPr id="25" name="Text 20">
            <a:extLst>
              <a:ext uri="{FF2B5EF4-FFF2-40B4-BE49-F238E27FC236}">
                <a16:creationId xmlns:a16="http://schemas.microsoft.com/office/drawing/2014/main" id="{CF103DB5-1C53-EAE5-A86D-A82E25211C67}"/>
              </a:ext>
            </a:extLst>
          </p:cNvPr>
          <p:cNvSpPr/>
          <p:nvPr/>
        </p:nvSpPr>
        <p:spPr>
          <a:xfrm>
            <a:off x="658368" y="3950208"/>
            <a:ext cx="3621024" cy="365760"/>
          </a:xfrm>
          <a:prstGeom prst="rect">
            <a:avLst/>
          </a:prstGeom>
          <a:noFill/>
          <a:ln/>
        </p:spPr>
        <p:txBody>
          <a:bodyPr wrap="square" lIns="0" tIns="0" rIns="0" bIns="0" rtlCol="0" anchor="t"/>
          <a:lstStyle/>
          <a:p>
            <a:pPr marL="0" indent="0">
              <a:lnSpc>
                <a:spcPts val="1200"/>
              </a:lnSpc>
              <a:buNone/>
            </a:pPr>
            <a:r>
              <a:rPr lang="en-US" sz="950" dirty="0">
                <a:solidFill>
                  <a:srgbClr val="8C8C8C"/>
                </a:solidFill>
                <a:latin typeface="Arial" pitchFamily="34" charset="0"/>
                <a:ea typeface="Arial" pitchFamily="34" charset="-122"/>
                <a:cs typeface="Arial" pitchFamily="34" charset="-120"/>
              </a:rPr>
              <a:t>What the shot says — in picture, in words, and in sound.</a:t>
            </a:r>
            <a:endParaRPr lang="en-US" sz="950" dirty="0"/>
          </a:p>
        </p:txBody>
      </p:sp>
      <p:sp>
        <p:nvSpPr>
          <p:cNvPr id="26" name="Shape 21">
            <a:extLst>
              <a:ext uri="{FF2B5EF4-FFF2-40B4-BE49-F238E27FC236}">
                <a16:creationId xmlns:a16="http://schemas.microsoft.com/office/drawing/2014/main" id="{6FF0FB25-4A98-1342-DA13-A3C4F95EA8DD}"/>
              </a:ext>
            </a:extLst>
          </p:cNvPr>
          <p:cNvSpPr/>
          <p:nvPr/>
        </p:nvSpPr>
        <p:spPr>
          <a:xfrm>
            <a:off x="4663440" y="2980944"/>
            <a:ext cx="4023360" cy="1389888"/>
          </a:xfrm>
          <a:prstGeom prst="roundRect">
            <a:avLst>
              <a:gd name="adj" fmla="val 5263"/>
            </a:avLst>
          </a:prstGeom>
          <a:solidFill>
            <a:srgbClr val="F6F6F6"/>
          </a:solidFill>
          <a:ln/>
        </p:spPr>
        <p:txBody>
          <a:bodyPr/>
          <a:lstStyle/>
          <a:p>
            <a:endParaRPr lang="en-EG"/>
          </a:p>
        </p:txBody>
      </p:sp>
      <p:sp>
        <p:nvSpPr>
          <p:cNvPr id="27" name="Shape 22">
            <a:extLst>
              <a:ext uri="{FF2B5EF4-FFF2-40B4-BE49-F238E27FC236}">
                <a16:creationId xmlns:a16="http://schemas.microsoft.com/office/drawing/2014/main" id="{F2BE0DE9-FE1A-B317-3F02-E7A0F02147C1}"/>
              </a:ext>
            </a:extLst>
          </p:cNvPr>
          <p:cNvSpPr/>
          <p:nvPr/>
        </p:nvSpPr>
        <p:spPr>
          <a:xfrm>
            <a:off x="4864608" y="3163824"/>
            <a:ext cx="310896" cy="310896"/>
          </a:xfrm>
          <a:prstGeom prst="roundRect">
            <a:avLst>
              <a:gd name="adj" fmla="val 23529"/>
            </a:avLst>
          </a:prstGeom>
          <a:solidFill>
            <a:srgbClr val="0A0A0A"/>
          </a:solidFill>
          <a:ln/>
        </p:spPr>
        <p:txBody>
          <a:bodyPr/>
          <a:lstStyle/>
          <a:p>
            <a:endParaRPr lang="en-EG"/>
          </a:p>
        </p:txBody>
      </p:sp>
      <p:sp>
        <p:nvSpPr>
          <p:cNvPr id="28" name="Text 23">
            <a:extLst>
              <a:ext uri="{FF2B5EF4-FFF2-40B4-BE49-F238E27FC236}">
                <a16:creationId xmlns:a16="http://schemas.microsoft.com/office/drawing/2014/main" id="{4149B388-3A44-D33B-6ED0-691B4CF2E42C}"/>
              </a:ext>
            </a:extLst>
          </p:cNvPr>
          <p:cNvSpPr/>
          <p:nvPr/>
        </p:nvSpPr>
        <p:spPr>
          <a:xfrm>
            <a:off x="4864608" y="316382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9" name="Text 24">
            <a:extLst>
              <a:ext uri="{FF2B5EF4-FFF2-40B4-BE49-F238E27FC236}">
                <a16:creationId xmlns:a16="http://schemas.microsoft.com/office/drawing/2014/main" id="{9827BDC6-7711-4541-79ED-611E92D2EDCB}"/>
              </a:ext>
            </a:extLst>
          </p:cNvPr>
          <p:cNvSpPr/>
          <p:nvPr/>
        </p:nvSpPr>
        <p:spPr>
          <a:xfrm>
            <a:off x="5266944" y="3163824"/>
            <a:ext cx="3218688" cy="310896"/>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CONNECTION</a:t>
            </a:r>
            <a:endParaRPr lang="en-US" sz="1400" dirty="0"/>
          </a:p>
        </p:txBody>
      </p:sp>
      <p:sp>
        <p:nvSpPr>
          <p:cNvPr id="30" name="Text 25">
            <a:extLst>
              <a:ext uri="{FF2B5EF4-FFF2-40B4-BE49-F238E27FC236}">
                <a16:creationId xmlns:a16="http://schemas.microsoft.com/office/drawing/2014/main" id="{B761391C-9C30-D9D2-0DE3-544D95022E1E}"/>
              </a:ext>
            </a:extLst>
          </p:cNvPr>
          <p:cNvSpPr/>
          <p:nvPr/>
        </p:nvSpPr>
        <p:spPr>
          <a:xfrm>
            <a:off x="4864608" y="3529584"/>
            <a:ext cx="3621024" cy="402336"/>
          </a:xfrm>
          <a:prstGeom prst="rect">
            <a:avLst/>
          </a:prstGeom>
          <a:noFill/>
          <a:ln/>
        </p:spPr>
        <p:txBody>
          <a:bodyPr wrap="square" lIns="0" tIns="0" rIns="0" bIns="0" rtlCol="0" anchor="t"/>
          <a:lstStyle/>
          <a:p>
            <a:pPr marL="0" indent="0">
              <a:lnSpc>
                <a:spcPts val="1400"/>
              </a:lnSpc>
              <a:buNone/>
            </a:pPr>
            <a:r>
              <a:rPr lang="en-US" sz="1100" b="1" dirty="0">
                <a:solidFill>
                  <a:srgbClr val="1F1F1F"/>
                </a:solidFill>
                <a:latin typeface="Arial" pitchFamily="34" charset="0"/>
                <a:ea typeface="Arial" pitchFamily="34" charset="-122"/>
                <a:cs typeface="Arial" pitchFamily="34" charset="-120"/>
              </a:rPr>
              <a:t>Transition · Continuity note</a:t>
            </a:r>
            <a:endParaRPr lang="en-US" sz="1100" dirty="0"/>
          </a:p>
        </p:txBody>
      </p:sp>
      <p:sp>
        <p:nvSpPr>
          <p:cNvPr id="31" name="Text 26">
            <a:extLst>
              <a:ext uri="{FF2B5EF4-FFF2-40B4-BE49-F238E27FC236}">
                <a16:creationId xmlns:a16="http://schemas.microsoft.com/office/drawing/2014/main" id="{37E1338E-6D97-9620-AD41-F9D3CC5A5FB9}"/>
              </a:ext>
            </a:extLst>
          </p:cNvPr>
          <p:cNvSpPr/>
          <p:nvPr/>
        </p:nvSpPr>
        <p:spPr>
          <a:xfrm>
            <a:off x="4864608" y="3950208"/>
            <a:ext cx="3621024" cy="365760"/>
          </a:xfrm>
          <a:prstGeom prst="rect">
            <a:avLst/>
          </a:prstGeom>
          <a:noFill/>
          <a:ln/>
        </p:spPr>
        <p:txBody>
          <a:bodyPr wrap="square" lIns="0" tIns="0" rIns="0" bIns="0" rtlCol="0" anchor="t"/>
          <a:lstStyle/>
          <a:p>
            <a:pPr marL="0" indent="0">
              <a:lnSpc>
                <a:spcPts val="1200"/>
              </a:lnSpc>
              <a:buNone/>
            </a:pPr>
            <a:r>
              <a:rPr lang="en-US" sz="950" dirty="0">
                <a:solidFill>
                  <a:srgbClr val="8C8C8C"/>
                </a:solidFill>
                <a:latin typeface="Arial" pitchFamily="34" charset="0"/>
                <a:ea typeface="Arial" pitchFamily="34" charset="-122"/>
                <a:cs typeface="Arial" pitchFamily="34" charset="-120"/>
              </a:rPr>
              <a:t>How this shot joins the one before it and the one after it.</a:t>
            </a:r>
            <a:endParaRPr lang="en-US" sz="950" dirty="0"/>
          </a:p>
        </p:txBody>
      </p:sp>
      <p:sp>
        <p:nvSpPr>
          <p:cNvPr id="32" name="Text 27">
            <a:extLst>
              <a:ext uri="{FF2B5EF4-FFF2-40B4-BE49-F238E27FC236}">
                <a16:creationId xmlns:a16="http://schemas.microsoft.com/office/drawing/2014/main" id="{3AF962E7-6E82-AA6C-E362-D3EA9C2146D6}"/>
              </a:ext>
            </a:extLst>
          </p:cNvPr>
          <p:cNvSpPr/>
          <p:nvPr/>
        </p:nvSpPr>
        <p:spPr>
          <a:xfrm>
            <a:off x="457200" y="4553712"/>
            <a:ext cx="8229600" cy="36576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If a column does not answer one of these four questions, it does not belong on the sheet.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77EA6D-95AE-76C8-B546-F5F362250927}"/>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12EAC0EE-C7A5-33A5-43AD-86F915510979}"/>
              </a:ext>
            </a:extLst>
          </p:cNvPr>
          <p:cNvSpPr/>
          <p:nvPr/>
        </p:nvSpPr>
        <p:spPr>
          <a:xfrm>
            <a:off x="457200" y="640080"/>
            <a:ext cx="8229600" cy="502920"/>
          </a:xfrm>
          <a:prstGeom prst="rect">
            <a:avLst/>
          </a:prstGeom>
          <a:noFill/>
          <a:ln/>
        </p:spPr>
        <p:txBody>
          <a:bodyPr wrap="square" lIns="0" tIns="0" rIns="0" bIns="0" rtlCol="0" anchor="t"/>
          <a:lstStyle/>
          <a:p>
            <a:r>
              <a:rPr lang="en-EG" sz="3000" b="1" dirty="0">
                <a:solidFill>
                  <a:srgbClr val="0A0A0A"/>
                </a:solidFill>
                <a:latin typeface="Arial" pitchFamily="34" charset="0"/>
                <a:cs typeface="Arial" pitchFamily="34" charset="-120"/>
              </a:rPr>
              <a:t>Convert Script to Storyboard</a:t>
            </a:r>
          </a:p>
        </p:txBody>
      </p:sp>
      <p:sp>
        <p:nvSpPr>
          <p:cNvPr id="6" name="Text 2">
            <a:extLst>
              <a:ext uri="{FF2B5EF4-FFF2-40B4-BE49-F238E27FC236}">
                <a16:creationId xmlns:a16="http://schemas.microsoft.com/office/drawing/2014/main" id="{6530B485-067A-016A-04E4-FCFCA0BDF586}"/>
              </a:ext>
            </a:extLst>
          </p:cNvPr>
          <p:cNvSpPr/>
          <p:nvPr/>
        </p:nvSpPr>
        <p:spPr>
          <a:xfrm>
            <a:off x="457200" y="1152144"/>
            <a:ext cx="8229600" cy="256032"/>
          </a:xfrm>
          <a:prstGeom prst="rect">
            <a:avLst/>
          </a:prstGeom>
          <a:noFill/>
          <a:ln/>
        </p:spPr>
        <p:txBody>
          <a:bodyPr wrap="square" lIns="0" tIns="0" rIns="0" bIns="0" rtlCol="0" anchor="ctr"/>
          <a:lstStyle/>
          <a:p>
            <a:r>
              <a:rPr lang="en-EG" sz="1200" dirty="0">
                <a:solidFill>
                  <a:srgbClr val="3A3A3A"/>
                </a:solidFill>
                <a:latin typeface="Arial" pitchFamily="34" charset="0"/>
                <a:cs typeface="Arial" pitchFamily="34" charset="-120"/>
              </a:rPr>
              <a:t>Prompt example.</a:t>
            </a:r>
            <a:endParaRPr lang="en-US" sz="1200" dirty="0">
              <a:solidFill>
                <a:srgbClr val="3A3A3A"/>
              </a:solidFill>
              <a:latin typeface="Arial" pitchFamily="34" charset="0"/>
              <a:cs typeface="Arial" pitchFamily="34" charset="-120"/>
            </a:endParaRPr>
          </a:p>
        </p:txBody>
      </p:sp>
      <p:sp>
        <p:nvSpPr>
          <p:cNvPr id="7" name="Shape 3">
            <a:extLst>
              <a:ext uri="{FF2B5EF4-FFF2-40B4-BE49-F238E27FC236}">
                <a16:creationId xmlns:a16="http://schemas.microsoft.com/office/drawing/2014/main" id="{67E85D83-84AB-80E0-A54F-EF3CC9B036EA}"/>
              </a:ext>
            </a:extLst>
          </p:cNvPr>
          <p:cNvSpPr/>
          <p:nvPr/>
        </p:nvSpPr>
        <p:spPr>
          <a:xfrm>
            <a:off x="457200" y="2244371"/>
            <a:ext cx="8028432" cy="1490954"/>
          </a:xfrm>
          <a:prstGeom prst="roundRect">
            <a:avLst>
              <a:gd name="adj" fmla="val 5263"/>
            </a:avLst>
          </a:prstGeom>
          <a:solidFill>
            <a:srgbClr val="F6F6F6"/>
          </a:solidFill>
          <a:ln/>
        </p:spPr>
        <p:txBody>
          <a:bodyPr/>
          <a:lstStyle/>
          <a:p>
            <a:endParaRPr lang="en-EG"/>
          </a:p>
        </p:txBody>
      </p:sp>
      <p:sp>
        <p:nvSpPr>
          <p:cNvPr id="12" name="Text 8">
            <a:extLst>
              <a:ext uri="{FF2B5EF4-FFF2-40B4-BE49-F238E27FC236}">
                <a16:creationId xmlns:a16="http://schemas.microsoft.com/office/drawing/2014/main" id="{B520712E-BABC-245D-9C17-2CF560A5F8F4}"/>
              </a:ext>
            </a:extLst>
          </p:cNvPr>
          <p:cNvSpPr/>
          <p:nvPr/>
        </p:nvSpPr>
        <p:spPr>
          <a:xfrm>
            <a:off x="823441" y="2689900"/>
            <a:ext cx="7295950" cy="816222"/>
          </a:xfrm>
          <a:prstGeom prst="rect">
            <a:avLst/>
          </a:prstGeom>
          <a:noFill/>
          <a:ln/>
        </p:spPr>
        <p:txBody>
          <a:bodyPr wrap="square" lIns="0" tIns="0" rIns="0" bIns="0" rtlCol="0" anchor="t"/>
          <a:lstStyle/>
          <a:p>
            <a:pPr>
              <a:lnSpc>
                <a:spcPts val="1200"/>
              </a:lnSpc>
            </a:pPr>
            <a:r>
              <a:rPr lang="en-EG" sz="950" dirty="0">
                <a:solidFill>
                  <a:srgbClr val="8C8C8C"/>
                </a:solidFill>
                <a:latin typeface="Arial" pitchFamily="34" charset="0"/>
                <a:cs typeface="Arial" pitchFamily="34" charset="-120"/>
              </a:rPr>
              <a:t>Act as a professional film director, art director, and AI visual storyboard creator. Convert the script that contains a storyboard table with the following columns: Frame No. | Time | VO | Visual Description | Shot Type | Mood | Camera Movement. Your task is to convert this script into a clear, detailed, cinematic visual storyboard. Do not rewrite the script or change the voice-over meaning. Use the existing script as the foundation, then upgrade the visual direction professionally.</a:t>
            </a:r>
          </a:p>
        </p:txBody>
      </p:sp>
      <p:sp>
        <p:nvSpPr>
          <p:cNvPr id="3" name="Text 2">
            <a:extLst>
              <a:ext uri="{FF2B5EF4-FFF2-40B4-BE49-F238E27FC236}">
                <a16:creationId xmlns:a16="http://schemas.microsoft.com/office/drawing/2014/main" id="{0CC2925F-B47E-1F27-3681-49A4D3E1FE50}"/>
              </a:ext>
            </a:extLst>
          </p:cNvPr>
          <p:cNvSpPr/>
          <p:nvPr/>
        </p:nvSpPr>
        <p:spPr>
          <a:xfrm>
            <a:off x="457200" y="1585280"/>
            <a:ext cx="8229600" cy="256032"/>
          </a:xfrm>
          <a:prstGeom prst="rect">
            <a:avLst/>
          </a:prstGeom>
          <a:noFill/>
          <a:ln/>
        </p:spPr>
        <p:txBody>
          <a:bodyPr wrap="square" lIns="0" tIns="0" rIns="0" bIns="0" rtlCol="0" anchor="ctr"/>
          <a:lstStyle/>
          <a:p>
            <a:r>
              <a:rPr lang="en-EG" b="1" dirty="0"/>
              <a:t>Frame No. </a:t>
            </a:r>
            <a:r>
              <a:rPr lang="en-EG" dirty="0"/>
              <a:t>+ </a:t>
            </a:r>
            <a:r>
              <a:rPr lang="en-EG" b="1" dirty="0"/>
              <a:t>Time </a:t>
            </a:r>
            <a:r>
              <a:rPr lang="en-EG" dirty="0"/>
              <a:t>+ </a:t>
            </a:r>
            <a:r>
              <a:rPr lang="en-EG" b="1" dirty="0"/>
              <a:t>VO </a:t>
            </a:r>
            <a:r>
              <a:rPr lang="en-EG" dirty="0"/>
              <a:t>+ </a:t>
            </a:r>
            <a:r>
              <a:rPr lang="en-EG" b="1" dirty="0"/>
              <a:t>Visual Description </a:t>
            </a:r>
            <a:r>
              <a:rPr lang="en-EG" dirty="0"/>
              <a:t>+ </a:t>
            </a:r>
            <a:r>
              <a:rPr lang="en-EG" b="1" dirty="0"/>
              <a:t>Shot Type </a:t>
            </a:r>
            <a:r>
              <a:rPr lang="en-EG" dirty="0"/>
              <a:t>+ </a:t>
            </a:r>
            <a:r>
              <a:rPr lang="en-EG" b="1" dirty="0"/>
              <a:t>Mood </a:t>
            </a:r>
            <a:r>
              <a:rPr lang="en-EG" dirty="0"/>
              <a:t>+ </a:t>
            </a:r>
            <a:r>
              <a:rPr lang="en-EG" b="1" dirty="0"/>
              <a:t>Camera Movement</a:t>
            </a:r>
            <a:endParaRPr lang="en-US" sz="1200" dirty="0">
              <a:solidFill>
                <a:srgbClr val="3A3A3A"/>
              </a:solidFill>
              <a:latin typeface="Arial" pitchFamily="34" charset="0"/>
              <a:cs typeface="Arial" pitchFamily="34" charset="-120"/>
            </a:endParaRPr>
          </a:p>
        </p:txBody>
      </p:sp>
    </p:spTree>
    <p:extLst>
      <p:ext uri="{BB962C8B-B14F-4D97-AF65-F5344CB8AC3E}">
        <p14:creationId xmlns:p14="http://schemas.microsoft.com/office/powerpoint/2010/main" val="3137388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1417320"/>
            <a:ext cx="1828800" cy="1188720"/>
          </a:xfrm>
          <a:prstGeom prst="rect">
            <a:avLst/>
          </a:prstGeom>
          <a:noFill/>
          <a:ln/>
        </p:spPr>
        <p:txBody>
          <a:bodyPr wrap="square" lIns="0" tIns="0" rIns="0" bIns="0" rtlCol="0" anchor="ctr"/>
          <a:lstStyle/>
          <a:p>
            <a:pPr marL="0" indent="0">
              <a:buNone/>
            </a:pPr>
            <a:r>
              <a:rPr lang="en-US" sz="8400" b="1" dirty="0">
                <a:solidFill>
                  <a:srgbClr val="FFFFFF"/>
                </a:solidFill>
                <a:latin typeface="Arial" pitchFamily="34" charset="0"/>
                <a:ea typeface="Arial" pitchFamily="34" charset="-122"/>
                <a:cs typeface="Arial" pitchFamily="34" charset="-120"/>
              </a:rPr>
              <a:t>03</a:t>
            </a:r>
            <a:endParaRPr lang="en-US" sz="8400" dirty="0"/>
          </a:p>
        </p:txBody>
      </p:sp>
      <p:sp>
        <p:nvSpPr>
          <p:cNvPr id="3" name="Text 1"/>
          <p:cNvSpPr/>
          <p:nvPr/>
        </p:nvSpPr>
        <p:spPr>
          <a:xfrm>
            <a:off x="2331720" y="1691640"/>
            <a:ext cx="6355080" cy="6400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VISUAL CRAFTING</a:t>
            </a:r>
            <a:endParaRPr lang="en-US" sz="3400" dirty="0"/>
          </a:p>
        </p:txBody>
      </p:sp>
      <p:sp>
        <p:nvSpPr>
          <p:cNvPr id="4" name="Text 2"/>
          <p:cNvSpPr/>
          <p:nvPr/>
        </p:nvSpPr>
        <p:spPr>
          <a:xfrm>
            <a:off x="2359152" y="2395728"/>
            <a:ext cx="6355080" cy="457200"/>
          </a:xfrm>
          <a:prstGeom prst="rect">
            <a:avLst/>
          </a:prstGeom>
          <a:noFill/>
          <a:ln/>
        </p:spPr>
        <p:txBody>
          <a:bodyPr wrap="square" lIns="0" tIns="0" rIns="0" bIns="0" rtlCol="0" anchor="t"/>
          <a:lstStyle/>
          <a:p>
            <a:pPr marL="0" indent="0">
              <a:buNone/>
            </a:pPr>
            <a:r>
              <a:rPr lang="en-US" sz="1200" dirty="0">
                <a:solidFill>
                  <a:srgbClr val="8C8C8C"/>
                </a:solidFill>
                <a:latin typeface="Arial" pitchFamily="34" charset="0"/>
                <a:ea typeface="Arial" pitchFamily="34" charset="-122"/>
                <a:cs typeface="Arial" pitchFamily="34" charset="-120"/>
              </a:rPr>
              <a:t>Building the frames — and making them stay the same across sixty of them.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THREE BIBLES</a:t>
            </a:r>
            <a:endParaRPr lang="en-US" sz="3000" dirty="0"/>
          </a:p>
        </p:txBody>
      </p:sp>
      <p:sp>
        <p:nvSpPr>
          <p:cNvPr id="4" name="Shape 2"/>
          <p:cNvSpPr/>
          <p:nvPr/>
        </p:nvSpPr>
        <p:spPr>
          <a:xfrm>
            <a:off x="457200" y="1298448"/>
            <a:ext cx="2624328" cy="2148840"/>
          </a:xfrm>
          <a:prstGeom prst="roundRect">
            <a:avLst>
              <a:gd name="adj" fmla="val 3404"/>
            </a:avLst>
          </a:prstGeom>
          <a:solidFill>
            <a:srgbClr val="F6F6F6"/>
          </a:solidFill>
          <a:ln/>
        </p:spPr>
        <p:txBody>
          <a:bodyPr/>
          <a:lstStyle/>
          <a:p>
            <a:endParaRPr lang="en-EG"/>
          </a:p>
        </p:txBody>
      </p:sp>
      <p:sp>
        <p:nvSpPr>
          <p:cNvPr id="5" name="Text 3"/>
          <p:cNvSpPr/>
          <p:nvPr/>
        </p:nvSpPr>
        <p:spPr>
          <a:xfrm>
            <a:off x="640080" y="1463040"/>
            <a:ext cx="2258568" cy="274320"/>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CHARACTER</a:t>
            </a:r>
            <a:endParaRPr lang="en-US" sz="1400" dirty="0"/>
          </a:p>
        </p:txBody>
      </p:sp>
      <p:sp>
        <p:nvSpPr>
          <p:cNvPr id="6" name="Text 4"/>
          <p:cNvSpPr/>
          <p:nvPr/>
        </p:nvSpPr>
        <p:spPr>
          <a:xfrm>
            <a:off x="640080" y="1810512"/>
            <a:ext cx="2258568" cy="566928"/>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Arial" pitchFamily="34" charset="0"/>
                <a:ea typeface="Arial" pitchFamily="34" charset="-122"/>
                <a:cs typeface="Arial" pitchFamily="34" charset="-120"/>
              </a:rPr>
              <a:t>Identity, wardrobe, expression range.</a:t>
            </a:r>
            <a:endParaRPr lang="en-US" sz="1050" dirty="0"/>
          </a:p>
        </p:txBody>
      </p:sp>
      <p:sp>
        <p:nvSpPr>
          <p:cNvPr id="7" name="Text 5"/>
          <p:cNvSpPr/>
          <p:nvPr/>
        </p:nvSpPr>
        <p:spPr>
          <a:xfrm>
            <a:off x="640080" y="2450592"/>
            <a:ext cx="2258568" cy="201168"/>
          </a:xfrm>
          <a:prstGeom prst="rect">
            <a:avLst/>
          </a:prstGeom>
          <a:noFill/>
          <a:ln/>
        </p:spPr>
        <p:txBody>
          <a:bodyPr wrap="square" lIns="0" tIns="0" rIns="0" bIns="0" rtlCol="0" anchor="ctr"/>
          <a:lstStyle/>
          <a:p>
            <a:pPr marL="0" indent="0">
              <a:buNone/>
            </a:pPr>
            <a:r>
              <a:rPr lang="en-US" sz="850" b="1" kern="0" spc="100" dirty="0">
                <a:solidFill>
                  <a:srgbClr val="8C8C8C"/>
                </a:solidFill>
                <a:latin typeface="Arial" pitchFamily="34" charset="0"/>
                <a:ea typeface="Arial" pitchFamily="34" charset="-122"/>
                <a:cs typeface="Arial" pitchFamily="34" charset="-120"/>
              </a:rPr>
              <a:t>NEVER CHANGE</a:t>
            </a:r>
            <a:endParaRPr lang="en-US" sz="850" dirty="0"/>
          </a:p>
        </p:txBody>
      </p:sp>
      <p:sp>
        <p:nvSpPr>
          <p:cNvPr id="8" name="Text 6"/>
          <p:cNvSpPr/>
          <p:nvPr/>
        </p:nvSpPr>
        <p:spPr>
          <a:xfrm>
            <a:off x="640080" y="2688336"/>
            <a:ext cx="2258568" cy="640080"/>
          </a:xfrm>
          <a:prstGeom prst="rect">
            <a:avLst/>
          </a:prstGeom>
          <a:noFill/>
          <a:ln/>
        </p:spPr>
        <p:txBody>
          <a:bodyPr wrap="square" lIns="0" tIns="0" rIns="0" bIns="0" rtlCol="0" anchor="t"/>
          <a:lstStyle/>
          <a:p>
            <a:pPr marL="0" indent="0">
              <a:lnSpc>
                <a:spcPts val="1300"/>
              </a:lnSpc>
              <a:buNone/>
            </a:pPr>
            <a:r>
              <a:rPr lang="en-US" sz="1000" b="1" dirty="0">
                <a:solidFill>
                  <a:srgbClr val="0A0A0A"/>
                </a:solidFill>
                <a:latin typeface="Arial" pitchFamily="34" charset="0"/>
                <a:ea typeface="Arial" pitchFamily="34" charset="-122"/>
                <a:cs typeface="Arial" pitchFamily="34" charset="-120"/>
              </a:rPr>
              <a:t>Age · hair · skin · outfit · build</a:t>
            </a:r>
            <a:endParaRPr lang="en-US" sz="1000" dirty="0"/>
          </a:p>
        </p:txBody>
      </p:sp>
      <p:sp>
        <p:nvSpPr>
          <p:cNvPr id="9" name="Shape 7"/>
          <p:cNvSpPr/>
          <p:nvPr/>
        </p:nvSpPr>
        <p:spPr>
          <a:xfrm>
            <a:off x="3264408" y="1298448"/>
            <a:ext cx="2624328" cy="2148840"/>
          </a:xfrm>
          <a:prstGeom prst="roundRect">
            <a:avLst>
              <a:gd name="adj" fmla="val 3404"/>
            </a:avLst>
          </a:prstGeom>
          <a:solidFill>
            <a:srgbClr val="0A0A0A"/>
          </a:solidFill>
          <a:ln/>
        </p:spPr>
        <p:txBody>
          <a:bodyPr/>
          <a:lstStyle/>
          <a:p>
            <a:endParaRPr lang="en-EG"/>
          </a:p>
        </p:txBody>
      </p:sp>
      <p:sp>
        <p:nvSpPr>
          <p:cNvPr id="10" name="Text 8"/>
          <p:cNvSpPr/>
          <p:nvPr/>
        </p:nvSpPr>
        <p:spPr>
          <a:xfrm>
            <a:off x="3447288" y="1463040"/>
            <a:ext cx="2258568" cy="274320"/>
          </a:xfrm>
          <a:prstGeom prst="rect">
            <a:avLst/>
          </a:prstGeom>
          <a:noFill/>
          <a:ln/>
        </p:spPr>
        <p:txBody>
          <a:bodyPr wrap="square" lIns="0" tIns="0" rIns="0" bIns="0" rtlCol="0" anchor="ctr"/>
          <a:lstStyle/>
          <a:p>
            <a:pPr marL="0" indent="0">
              <a:buNone/>
            </a:pPr>
            <a:r>
              <a:rPr lang="en-US" sz="1400" b="1" dirty="0">
                <a:solidFill>
                  <a:srgbClr val="FF3B00"/>
                </a:solidFill>
                <a:latin typeface="Arial" pitchFamily="34" charset="0"/>
                <a:ea typeface="Arial" pitchFamily="34" charset="-122"/>
                <a:cs typeface="Arial" pitchFamily="34" charset="-120"/>
              </a:rPr>
              <a:t>PRODUCT</a:t>
            </a:r>
            <a:endParaRPr lang="en-US" sz="1400" dirty="0"/>
          </a:p>
        </p:txBody>
      </p:sp>
      <p:sp>
        <p:nvSpPr>
          <p:cNvPr id="11" name="Text 9"/>
          <p:cNvSpPr/>
          <p:nvPr/>
        </p:nvSpPr>
        <p:spPr>
          <a:xfrm>
            <a:off x="3447288" y="1810512"/>
            <a:ext cx="2258568" cy="566928"/>
          </a:xfrm>
          <a:prstGeom prst="rect">
            <a:avLst/>
          </a:prstGeom>
          <a:noFill/>
          <a:ln/>
        </p:spPr>
        <p:txBody>
          <a:bodyPr wrap="square" lIns="0" tIns="0" rIns="0" bIns="0" rtlCol="0" anchor="t"/>
          <a:lstStyle/>
          <a:p>
            <a:pPr marL="0" indent="0">
              <a:lnSpc>
                <a:spcPts val="1400"/>
              </a:lnSpc>
              <a:buNone/>
            </a:pPr>
            <a:r>
              <a:rPr lang="en-US" sz="1050" dirty="0">
                <a:solidFill>
                  <a:srgbClr val="D8D8D8"/>
                </a:solidFill>
                <a:latin typeface="Arial" pitchFamily="34" charset="0"/>
                <a:ea typeface="Arial" pitchFamily="34" charset="-122"/>
                <a:cs typeface="Arial" pitchFamily="34" charset="-120"/>
              </a:rPr>
              <a:t>The hero. The most-broken asset in AI advertising.</a:t>
            </a:r>
            <a:endParaRPr lang="en-US" sz="1050" dirty="0"/>
          </a:p>
        </p:txBody>
      </p:sp>
      <p:sp>
        <p:nvSpPr>
          <p:cNvPr id="12" name="Text 10"/>
          <p:cNvSpPr/>
          <p:nvPr/>
        </p:nvSpPr>
        <p:spPr>
          <a:xfrm>
            <a:off x="3447288" y="2450592"/>
            <a:ext cx="2258568" cy="201168"/>
          </a:xfrm>
          <a:prstGeom prst="rect">
            <a:avLst/>
          </a:prstGeom>
          <a:noFill/>
          <a:ln/>
        </p:spPr>
        <p:txBody>
          <a:bodyPr wrap="square" lIns="0" tIns="0" rIns="0" bIns="0" rtlCol="0" anchor="ctr"/>
          <a:lstStyle/>
          <a:p>
            <a:pPr marL="0" indent="0">
              <a:buNone/>
            </a:pPr>
            <a:r>
              <a:rPr lang="en-US" sz="850" b="1" kern="0" spc="100" dirty="0">
                <a:solidFill>
                  <a:srgbClr val="FF3B00"/>
                </a:solidFill>
                <a:latin typeface="Arial" pitchFamily="34" charset="0"/>
                <a:ea typeface="Arial" pitchFamily="34" charset="-122"/>
                <a:cs typeface="Arial" pitchFamily="34" charset="-120"/>
              </a:rPr>
              <a:t>NEVER CHANGE</a:t>
            </a:r>
            <a:endParaRPr lang="en-US" sz="850" dirty="0"/>
          </a:p>
        </p:txBody>
      </p:sp>
      <p:sp>
        <p:nvSpPr>
          <p:cNvPr id="13" name="Text 11"/>
          <p:cNvSpPr/>
          <p:nvPr/>
        </p:nvSpPr>
        <p:spPr>
          <a:xfrm>
            <a:off x="3447288" y="2688336"/>
            <a:ext cx="2258568" cy="640080"/>
          </a:xfrm>
          <a:prstGeom prst="rect">
            <a:avLst/>
          </a:prstGeom>
          <a:noFill/>
          <a:ln/>
        </p:spPr>
        <p:txBody>
          <a:bodyPr wrap="square" lIns="0" tIns="0" rIns="0" bIns="0" rtlCol="0" anchor="t"/>
          <a:lstStyle/>
          <a:p>
            <a:pPr marL="0" indent="0">
              <a:lnSpc>
                <a:spcPts val="1300"/>
              </a:lnSpc>
              <a:buNone/>
            </a:pPr>
            <a:r>
              <a:rPr lang="en-US" sz="1000" b="1" dirty="0">
                <a:solidFill>
                  <a:srgbClr val="FFFFFF"/>
                </a:solidFill>
                <a:latin typeface="Arial" pitchFamily="34" charset="0"/>
                <a:ea typeface="Arial" pitchFamily="34" charset="-122"/>
                <a:cs typeface="Arial" pitchFamily="34" charset="-120"/>
              </a:rPr>
              <a:t>Silhouette · logo lockup · HEX · label type · finish · hero angle</a:t>
            </a:r>
            <a:endParaRPr lang="en-US" sz="1000" dirty="0"/>
          </a:p>
        </p:txBody>
      </p:sp>
      <p:sp>
        <p:nvSpPr>
          <p:cNvPr id="14" name="Shape 12"/>
          <p:cNvSpPr/>
          <p:nvPr/>
        </p:nvSpPr>
        <p:spPr>
          <a:xfrm>
            <a:off x="6071616" y="1298448"/>
            <a:ext cx="2624328" cy="2148840"/>
          </a:xfrm>
          <a:prstGeom prst="roundRect">
            <a:avLst>
              <a:gd name="adj" fmla="val 3404"/>
            </a:avLst>
          </a:prstGeom>
          <a:solidFill>
            <a:srgbClr val="F6F6F6"/>
          </a:solidFill>
          <a:ln/>
        </p:spPr>
        <p:txBody>
          <a:bodyPr/>
          <a:lstStyle/>
          <a:p>
            <a:endParaRPr lang="en-EG"/>
          </a:p>
        </p:txBody>
      </p:sp>
      <p:sp>
        <p:nvSpPr>
          <p:cNvPr id="15" name="Text 13"/>
          <p:cNvSpPr/>
          <p:nvPr/>
        </p:nvSpPr>
        <p:spPr>
          <a:xfrm>
            <a:off x="6254496" y="1463040"/>
            <a:ext cx="2258568" cy="274320"/>
          </a:xfrm>
          <a:prstGeom prst="rect">
            <a:avLst/>
          </a:prstGeom>
          <a:noFill/>
          <a:ln/>
        </p:spPr>
        <p:txBody>
          <a:bodyPr wrap="square" lIns="0" tIns="0" rIns="0" bIns="0" rtlCol="0" anchor="ctr"/>
          <a:lstStyle/>
          <a:p>
            <a:pPr marL="0" indent="0">
              <a:buNone/>
            </a:pPr>
            <a:r>
              <a:rPr lang="en-US" sz="1400" b="1" dirty="0">
                <a:solidFill>
                  <a:srgbClr val="0A0A0A"/>
                </a:solidFill>
                <a:latin typeface="Arial" pitchFamily="34" charset="0"/>
                <a:ea typeface="Arial" pitchFamily="34" charset="-122"/>
                <a:cs typeface="Arial" pitchFamily="34" charset="-120"/>
              </a:rPr>
              <a:t>LOCATION</a:t>
            </a:r>
            <a:endParaRPr lang="en-US" sz="1400" dirty="0"/>
          </a:p>
        </p:txBody>
      </p:sp>
      <p:sp>
        <p:nvSpPr>
          <p:cNvPr id="16" name="Text 14"/>
          <p:cNvSpPr/>
          <p:nvPr/>
        </p:nvSpPr>
        <p:spPr>
          <a:xfrm>
            <a:off x="6254496" y="1810512"/>
            <a:ext cx="2258568" cy="566928"/>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Arial" pitchFamily="34" charset="0"/>
                <a:ea typeface="Arial" pitchFamily="34" charset="-122"/>
                <a:cs typeface="Arial" pitchFamily="34" charset="-120"/>
              </a:rPr>
              <a:t>Space, light and palette across every shot.</a:t>
            </a:r>
            <a:endParaRPr lang="en-US" sz="1050" dirty="0"/>
          </a:p>
        </p:txBody>
      </p:sp>
      <p:sp>
        <p:nvSpPr>
          <p:cNvPr id="17" name="Text 15"/>
          <p:cNvSpPr/>
          <p:nvPr/>
        </p:nvSpPr>
        <p:spPr>
          <a:xfrm>
            <a:off x="6254496" y="2450592"/>
            <a:ext cx="2258568" cy="201168"/>
          </a:xfrm>
          <a:prstGeom prst="rect">
            <a:avLst/>
          </a:prstGeom>
          <a:noFill/>
          <a:ln/>
        </p:spPr>
        <p:txBody>
          <a:bodyPr wrap="square" lIns="0" tIns="0" rIns="0" bIns="0" rtlCol="0" anchor="ctr"/>
          <a:lstStyle/>
          <a:p>
            <a:pPr marL="0" indent="0">
              <a:buNone/>
            </a:pPr>
            <a:r>
              <a:rPr lang="en-US" sz="850" b="1" kern="0" spc="100" dirty="0">
                <a:solidFill>
                  <a:srgbClr val="8C8C8C"/>
                </a:solidFill>
                <a:latin typeface="Arial" pitchFamily="34" charset="0"/>
                <a:ea typeface="Arial" pitchFamily="34" charset="-122"/>
                <a:cs typeface="Arial" pitchFamily="34" charset="-120"/>
              </a:rPr>
              <a:t>NEVER CHANGE</a:t>
            </a:r>
            <a:endParaRPr lang="en-US" sz="850" dirty="0"/>
          </a:p>
        </p:txBody>
      </p:sp>
      <p:sp>
        <p:nvSpPr>
          <p:cNvPr id="18" name="Text 16"/>
          <p:cNvSpPr/>
          <p:nvPr/>
        </p:nvSpPr>
        <p:spPr>
          <a:xfrm>
            <a:off x="6254496" y="2688336"/>
            <a:ext cx="2258568" cy="640080"/>
          </a:xfrm>
          <a:prstGeom prst="rect">
            <a:avLst/>
          </a:prstGeom>
          <a:noFill/>
          <a:ln/>
        </p:spPr>
        <p:txBody>
          <a:bodyPr wrap="square" lIns="0" tIns="0" rIns="0" bIns="0" rtlCol="0" anchor="t"/>
          <a:lstStyle/>
          <a:p>
            <a:pPr marL="0" indent="0">
              <a:lnSpc>
                <a:spcPts val="1300"/>
              </a:lnSpc>
              <a:buNone/>
            </a:pPr>
            <a:r>
              <a:rPr lang="en-US" sz="1000" b="1" dirty="0">
                <a:solidFill>
                  <a:srgbClr val="0A0A0A"/>
                </a:solidFill>
                <a:latin typeface="Arial" pitchFamily="34" charset="0"/>
                <a:ea typeface="Arial" pitchFamily="34" charset="-122"/>
                <a:cs typeface="Arial" pitchFamily="34" charset="-120"/>
              </a:rPr>
              <a:t>Layout · light direction · time of day · palette</a:t>
            </a:r>
            <a:endParaRPr lang="en-US" sz="1000" dirty="0"/>
          </a:p>
        </p:txBody>
      </p:sp>
      <p:sp>
        <p:nvSpPr>
          <p:cNvPr id="19" name="Text 17"/>
          <p:cNvSpPr/>
          <p:nvPr/>
        </p:nvSpPr>
        <p:spPr>
          <a:xfrm>
            <a:off x="457200" y="3630168"/>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The workshop gave the character a bible. In commercial work the product is the protagonist — it needs one more.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PROMPT DNA</a:t>
            </a:r>
            <a:endParaRPr lang="en-US" sz="3000" dirty="0"/>
          </a:p>
        </p:txBody>
      </p:sp>
      <p:sp>
        <p:nvSpPr>
          <p:cNvPr id="4" name="Shape 2"/>
          <p:cNvSpPr/>
          <p:nvPr/>
        </p:nvSpPr>
        <p:spPr>
          <a:xfrm>
            <a:off x="457200" y="1298448"/>
            <a:ext cx="2148840" cy="786384"/>
          </a:xfrm>
          <a:prstGeom prst="roundRect">
            <a:avLst>
              <a:gd name="adj" fmla="val 9302"/>
            </a:avLst>
          </a:prstGeom>
          <a:solidFill>
            <a:srgbClr val="0A0A0A"/>
          </a:solidFill>
          <a:ln/>
        </p:spPr>
        <p:txBody>
          <a:bodyPr/>
          <a:lstStyle/>
          <a:p>
            <a:endParaRPr lang="en-EG"/>
          </a:p>
        </p:txBody>
      </p:sp>
      <p:sp>
        <p:nvSpPr>
          <p:cNvPr id="5" name="Text 3"/>
          <p:cNvSpPr/>
          <p:nvPr/>
        </p:nvSpPr>
        <p:spPr>
          <a:xfrm>
            <a:off x="457200" y="1298448"/>
            <a:ext cx="2148840" cy="7863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LOCKED BLOCK</a:t>
            </a:r>
            <a:endParaRPr lang="en-US" sz="1200" dirty="0"/>
          </a:p>
        </p:txBody>
      </p:sp>
      <p:sp>
        <p:nvSpPr>
          <p:cNvPr id="6" name="Text 4"/>
          <p:cNvSpPr/>
          <p:nvPr/>
        </p:nvSpPr>
        <p:spPr>
          <a:xfrm>
            <a:off x="2834640" y="1380744"/>
            <a:ext cx="5852160" cy="310896"/>
          </a:xfrm>
          <a:prstGeom prst="rect">
            <a:avLst/>
          </a:prstGeom>
          <a:noFill/>
          <a:ln/>
        </p:spPr>
        <p:txBody>
          <a:bodyPr wrap="square" lIns="0" tIns="0" rIns="0" bIns="0" rtlCol="0" anchor="t"/>
          <a:lstStyle/>
          <a:p>
            <a:pPr marL="0" indent="0">
              <a:buNone/>
            </a:pPr>
            <a:r>
              <a:rPr lang="en-US" sz="1150" b="1" dirty="0">
                <a:solidFill>
                  <a:srgbClr val="0A0A0A"/>
                </a:solidFill>
                <a:latin typeface="Arial" pitchFamily="34" charset="0"/>
                <a:ea typeface="Arial" pitchFamily="34" charset="-122"/>
                <a:cs typeface="Arial" pitchFamily="34" charset="-120"/>
              </a:rPr>
              <a:t>Style + palette + lighting + lens + ratio + render quality</a:t>
            </a:r>
            <a:endParaRPr lang="en-US" sz="1150" dirty="0"/>
          </a:p>
        </p:txBody>
      </p:sp>
      <p:sp>
        <p:nvSpPr>
          <p:cNvPr id="7" name="Text 5"/>
          <p:cNvSpPr/>
          <p:nvPr/>
        </p:nvSpPr>
        <p:spPr>
          <a:xfrm>
            <a:off x="2834640" y="1719072"/>
            <a:ext cx="5852160" cy="274320"/>
          </a:xfrm>
          <a:prstGeom prst="rect">
            <a:avLst/>
          </a:prstGeom>
          <a:noFill/>
          <a:ln/>
        </p:spPr>
        <p:txBody>
          <a:bodyPr wrap="square" lIns="0" tIns="0" rIns="0" bIns="0" rtlCol="0" anchor="t"/>
          <a:lstStyle/>
          <a:p>
            <a:pPr marL="0" indent="0">
              <a:buNone/>
            </a:pPr>
            <a:r>
              <a:rPr lang="en-US" sz="1000" dirty="0">
                <a:solidFill>
                  <a:srgbClr val="8C8C8C"/>
                </a:solidFill>
                <a:latin typeface="Arial" pitchFamily="34" charset="0"/>
                <a:ea typeface="Arial" pitchFamily="34" charset="-122"/>
                <a:cs typeface="Arial" pitchFamily="34" charset="-120"/>
              </a:rPr>
              <a:t>Never changes. One project = one locked block.</a:t>
            </a:r>
            <a:endParaRPr lang="en-US" sz="1000" dirty="0"/>
          </a:p>
        </p:txBody>
      </p:sp>
      <p:sp>
        <p:nvSpPr>
          <p:cNvPr id="8" name="Shape 6"/>
          <p:cNvSpPr/>
          <p:nvPr/>
        </p:nvSpPr>
        <p:spPr>
          <a:xfrm>
            <a:off x="457200" y="2231136"/>
            <a:ext cx="2148840" cy="786384"/>
          </a:xfrm>
          <a:prstGeom prst="roundRect">
            <a:avLst>
              <a:gd name="adj" fmla="val 9302"/>
            </a:avLst>
          </a:prstGeom>
          <a:solidFill>
            <a:srgbClr val="3A3A3A"/>
          </a:solidFill>
          <a:ln/>
        </p:spPr>
        <p:txBody>
          <a:bodyPr/>
          <a:lstStyle/>
          <a:p>
            <a:endParaRPr lang="en-EG"/>
          </a:p>
        </p:txBody>
      </p:sp>
      <p:sp>
        <p:nvSpPr>
          <p:cNvPr id="9" name="Text 7"/>
          <p:cNvSpPr/>
          <p:nvPr/>
        </p:nvSpPr>
        <p:spPr>
          <a:xfrm>
            <a:off x="457200" y="2231136"/>
            <a:ext cx="2148840" cy="7863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VARIABLE BLOCK</a:t>
            </a:r>
            <a:endParaRPr lang="en-US" sz="1200" dirty="0"/>
          </a:p>
        </p:txBody>
      </p:sp>
      <p:sp>
        <p:nvSpPr>
          <p:cNvPr id="10" name="Text 8"/>
          <p:cNvSpPr/>
          <p:nvPr/>
        </p:nvSpPr>
        <p:spPr>
          <a:xfrm>
            <a:off x="2834640" y="2313432"/>
            <a:ext cx="5852160" cy="310896"/>
          </a:xfrm>
          <a:prstGeom prst="rect">
            <a:avLst/>
          </a:prstGeom>
          <a:noFill/>
          <a:ln/>
        </p:spPr>
        <p:txBody>
          <a:bodyPr wrap="square" lIns="0" tIns="0" rIns="0" bIns="0" rtlCol="0" anchor="t"/>
          <a:lstStyle/>
          <a:p>
            <a:pPr marL="0" indent="0">
              <a:buNone/>
            </a:pPr>
            <a:r>
              <a:rPr lang="en-US" sz="1150" b="1" dirty="0">
                <a:solidFill>
                  <a:srgbClr val="0A0A0A"/>
                </a:solidFill>
                <a:latin typeface="Arial" pitchFamily="34" charset="0"/>
                <a:ea typeface="Arial" pitchFamily="34" charset="-122"/>
                <a:cs typeface="Arial" pitchFamily="34" charset="-120"/>
              </a:rPr>
              <a:t>Character state + action + location + emotion + shot + angle</a:t>
            </a:r>
            <a:endParaRPr lang="en-US" sz="1150" dirty="0"/>
          </a:p>
        </p:txBody>
      </p:sp>
      <p:sp>
        <p:nvSpPr>
          <p:cNvPr id="11" name="Text 9"/>
          <p:cNvSpPr/>
          <p:nvPr/>
        </p:nvSpPr>
        <p:spPr>
          <a:xfrm>
            <a:off x="2834640" y="2651760"/>
            <a:ext cx="5852160" cy="274320"/>
          </a:xfrm>
          <a:prstGeom prst="rect">
            <a:avLst/>
          </a:prstGeom>
          <a:noFill/>
          <a:ln/>
        </p:spPr>
        <p:txBody>
          <a:bodyPr wrap="square" lIns="0" tIns="0" rIns="0" bIns="0" rtlCol="0" anchor="t"/>
          <a:lstStyle/>
          <a:p>
            <a:pPr marL="0" indent="0">
              <a:buNone/>
            </a:pPr>
            <a:r>
              <a:rPr lang="en-US" sz="1000" dirty="0">
                <a:solidFill>
                  <a:srgbClr val="8C8C8C"/>
                </a:solidFill>
                <a:latin typeface="Arial" pitchFamily="34" charset="0"/>
                <a:ea typeface="Arial" pitchFamily="34" charset="-122"/>
                <a:cs typeface="Arial" pitchFamily="34" charset="-120"/>
              </a:rPr>
              <a:t>Changes every single frame.</a:t>
            </a:r>
            <a:endParaRPr lang="en-US" sz="1000" dirty="0"/>
          </a:p>
        </p:txBody>
      </p:sp>
      <p:sp>
        <p:nvSpPr>
          <p:cNvPr id="12" name="Shape 10"/>
          <p:cNvSpPr/>
          <p:nvPr/>
        </p:nvSpPr>
        <p:spPr>
          <a:xfrm>
            <a:off x="457200" y="3163824"/>
            <a:ext cx="2148840" cy="786384"/>
          </a:xfrm>
          <a:prstGeom prst="roundRect">
            <a:avLst>
              <a:gd name="adj" fmla="val 9302"/>
            </a:avLst>
          </a:prstGeom>
          <a:solidFill>
            <a:srgbClr val="FF3B00"/>
          </a:solidFill>
          <a:ln/>
        </p:spPr>
        <p:txBody>
          <a:bodyPr/>
          <a:lstStyle/>
          <a:p>
            <a:endParaRPr lang="en-EG"/>
          </a:p>
        </p:txBody>
      </p:sp>
      <p:sp>
        <p:nvSpPr>
          <p:cNvPr id="13" name="Text 11"/>
          <p:cNvSpPr/>
          <p:nvPr/>
        </p:nvSpPr>
        <p:spPr>
          <a:xfrm>
            <a:off x="457200" y="3163824"/>
            <a:ext cx="2148840" cy="7863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CONTROL BLOCK</a:t>
            </a:r>
            <a:endParaRPr lang="en-US" sz="1200" dirty="0"/>
          </a:p>
        </p:txBody>
      </p:sp>
      <p:sp>
        <p:nvSpPr>
          <p:cNvPr id="14" name="Text 12"/>
          <p:cNvSpPr/>
          <p:nvPr/>
        </p:nvSpPr>
        <p:spPr>
          <a:xfrm>
            <a:off x="2834640" y="3246120"/>
            <a:ext cx="5852160" cy="310896"/>
          </a:xfrm>
          <a:prstGeom prst="rect">
            <a:avLst/>
          </a:prstGeom>
          <a:noFill/>
          <a:ln/>
        </p:spPr>
        <p:txBody>
          <a:bodyPr wrap="square" lIns="0" tIns="0" rIns="0" bIns="0" rtlCol="0" anchor="t"/>
          <a:lstStyle/>
          <a:p>
            <a:pPr marL="0" indent="0">
              <a:buNone/>
            </a:pPr>
            <a:r>
              <a:rPr lang="en-US" sz="1150" b="1" dirty="0">
                <a:solidFill>
                  <a:srgbClr val="0A0A0A"/>
                </a:solidFill>
                <a:latin typeface="Arial" pitchFamily="34" charset="0"/>
                <a:ea typeface="Arial" pitchFamily="34" charset="-122"/>
                <a:cs typeface="Arial" pitchFamily="34" charset="-120"/>
              </a:rPr>
              <a:t>References + seed + negative prompt (where supported)</a:t>
            </a:r>
            <a:endParaRPr lang="en-US" sz="1150" dirty="0"/>
          </a:p>
        </p:txBody>
      </p:sp>
      <p:sp>
        <p:nvSpPr>
          <p:cNvPr id="15" name="Text 13"/>
          <p:cNvSpPr/>
          <p:nvPr/>
        </p:nvSpPr>
        <p:spPr>
          <a:xfrm>
            <a:off x="2834640" y="3584448"/>
            <a:ext cx="5852160" cy="274320"/>
          </a:xfrm>
          <a:prstGeom prst="rect">
            <a:avLst/>
          </a:prstGeom>
          <a:noFill/>
          <a:ln/>
        </p:spPr>
        <p:txBody>
          <a:bodyPr wrap="square" lIns="0" tIns="0" rIns="0" bIns="0" rtlCol="0" anchor="t"/>
          <a:lstStyle/>
          <a:p>
            <a:pPr marL="0" indent="0">
              <a:buNone/>
            </a:pPr>
            <a:r>
              <a:rPr lang="en-US" sz="1000" dirty="0">
                <a:solidFill>
                  <a:srgbClr val="8C8C8C"/>
                </a:solidFill>
                <a:latin typeface="Arial" pitchFamily="34" charset="0"/>
                <a:ea typeface="Arial" pitchFamily="34" charset="-122"/>
                <a:cs typeface="Arial" pitchFamily="34" charset="-120"/>
              </a:rPr>
              <a:t>The layer that actually enforces consistency.</a:t>
            </a:r>
            <a:endParaRPr lang="en-US" sz="1000" dirty="0"/>
          </a:p>
        </p:txBody>
      </p:sp>
      <p:sp>
        <p:nvSpPr>
          <p:cNvPr id="16" name="Text 14"/>
          <p:cNvSpPr/>
          <p:nvPr/>
        </p:nvSpPr>
        <p:spPr>
          <a:xfrm>
            <a:off x="457200" y="4224528"/>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If the locked block changes mid-project, every frame before it is now wrong.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CONSISTENCY LADDER</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2400300"/>
        </p:xfrm>
        <a:graphic>
          <a:graphicData uri="http://schemas.openxmlformats.org/drawingml/2006/table">
            <a:tbl>
              <a:tblPr/>
              <a:tblGrid>
                <a:gridCol w="457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42900">
                <a:tc>
                  <a:txBody>
                    <a:bodyPr/>
                    <a:lstStyle/>
                    <a:p>
                      <a:pPr marL="0" indent="0">
                        <a:buNone/>
                      </a:pP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METHOD</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STRENGTH</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WHEN TO USE IT</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Text description only</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Weak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Early exploration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Fixed prompt block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Medium</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Non-sequential frames</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Seed lock + fixed block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Medium +</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Variations of one frame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Image reference / character lock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Strong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The default for commercial work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Multi-reference: character + product + location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Very strong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A full film</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marL="0" indent="0">
                        <a:buNone/>
                      </a:pPr>
                      <a:r>
                        <a:rPr lang="en-US" sz="1050" dirty="0">
                          <a:solidFill>
                            <a:srgbClr val="1F1F1F"/>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Trained character model</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Highest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Long campaign or recurring IP</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457200" y="4041648"/>
            <a:ext cx="8229600" cy="658368"/>
          </a:xfrm>
          <a:prstGeom prst="roundRect">
            <a:avLst>
              <a:gd name="adj" fmla="val 11111"/>
            </a:avLst>
          </a:prstGeom>
          <a:solidFill>
            <a:srgbClr val="0A0A0A"/>
          </a:solidFill>
          <a:ln/>
        </p:spPr>
        <p:txBody>
          <a:bodyPr/>
          <a:lstStyle/>
          <a:p>
            <a:endParaRPr lang="en-EG"/>
          </a:p>
        </p:txBody>
      </p:sp>
      <p:sp>
        <p:nvSpPr>
          <p:cNvPr id="6" name="Text 3"/>
          <p:cNvSpPr/>
          <p:nvPr/>
        </p:nvSpPr>
        <p:spPr>
          <a:xfrm>
            <a:off x="685800" y="4041648"/>
            <a:ext cx="7772400" cy="658368"/>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Text describes. References enforce.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ONE GENERATION, FOUR DELIVERIES</a:t>
            </a:r>
            <a:endParaRPr lang="en-US" sz="3000" dirty="0"/>
          </a:p>
        </p:txBody>
      </p:sp>
      <p:sp>
        <p:nvSpPr>
          <p:cNvPr id="4" name="Text 2"/>
          <p:cNvSpPr/>
          <p:nvPr/>
        </p:nvSpPr>
        <p:spPr>
          <a:xfrm>
            <a:off x="457200" y="1298448"/>
            <a:ext cx="8229600" cy="457200"/>
          </a:xfrm>
          <a:prstGeom prst="rect">
            <a:avLst/>
          </a:prstGeom>
          <a:noFill/>
          <a:ln/>
        </p:spPr>
        <p:txBody>
          <a:bodyPr wrap="square" lIns="0" tIns="0" rIns="0" bIns="0" rtlCol="0" anchor="t"/>
          <a:lstStyle/>
          <a:p>
            <a:pPr marL="0" indent="0">
              <a:buNone/>
            </a:pPr>
            <a:r>
              <a:rPr lang="en-US" sz="1250" dirty="0">
                <a:solidFill>
                  <a:srgbClr val="3A3A3A"/>
                </a:solidFill>
                <a:latin typeface="Arial" pitchFamily="34" charset="0"/>
                <a:ea typeface="Arial" pitchFamily="34" charset="-122"/>
                <a:cs typeface="Arial" pitchFamily="34" charset="-120"/>
              </a:rPr>
              <a:t>Generate at 9:16 and protect the central crop zone. Every other format comes out of it — with no re-generation.</a:t>
            </a:r>
            <a:endParaRPr lang="en-US" sz="1250" dirty="0"/>
          </a:p>
        </p:txBody>
      </p:sp>
      <p:sp>
        <p:nvSpPr>
          <p:cNvPr id="5" name="Shape 3"/>
          <p:cNvSpPr/>
          <p:nvPr/>
        </p:nvSpPr>
        <p:spPr>
          <a:xfrm>
            <a:off x="457200" y="1897380"/>
            <a:ext cx="685800" cy="1216152"/>
          </a:xfrm>
          <a:prstGeom prst="roundRect">
            <a:avLst>
              <a:gd name="adj" fmla="val 8000"/>
            </a:avLst>
          </a:prstGeom>
          <a:solidFill>
            <a:srgbClr val="F0F0F0"/>
          </a:solidFill>
          <a:ln w="12700">
            <a:solidFill>
              <a:srgbClr val="E4E4E4"/>
            </a:solidFill>
            <a:prstDash val="solid"/>
          </a:ln>
        </p:spPr>
        <p:txBody>
          <a:bodyPr/>
          <a:lstStyle/>
          <a:p>
            <a:endParaRPr lang="en-EG"/>
          </a:p>
        </p:txBody>
      </p:sp>
      <p:sp>
        <p:nvSpPr>
          <p:cNvPr id="6" name="Text 4"/>
          <p:cNvSpPr/>
          <p:nvPr/>
        </p:nvSpPr>
        <p:spPr>
          <a:xfrm>
            <a:off x="457200" y="1897380"/>
            <a:ext cx="685800" cy="1216152"/>
          </a:xfrm>
          <a:prstGeom prst="rect">
            <a:avLst/>
          </a:prstGeom>
          <a:noFill/>
          <a:ln/>
        </p:spPr>
        <p:txBody>
          <a:bodyPr wrap="square" lIns="0" tIns="0" rIns="0" bIns="0" rtlCol="0" anchor="ctr"/>
          <a:lstStyle/>
          <a:p>
            <a:pPr marL="0" indent="0" algn="ctr">
              <a:buNone/>
            </a:pPr>
            <a:r>
              <a:rPr lang="en-US" sz="1400" b="1" dirty="0">
                <a:solidFill>
                  <a:srgbClr val="0A0A0A"/>
                </a:solidFill>
                <a:latin typeface="Arial" pitchFamily="34" charset="0"/>
                <a:ea typeface="Arial" pitchFamily="34" charset="-122"/>
                <a:cs typeface="Arial" pitchFamily="34" charset="-120"/>
              </a:rPr>
              <a:t>9:16</a:t>
            </a:r>
            <a:endParaRPr lang="en-US" sz="1400" dirty="0"/>
          </a:p>
        </p:txBody>
      </p:sp>
      <p:sp>
        <p:nvSpPr>
          <p:cNvPr id="7" name="Text 5"/>
          <p:cNvSpPr/>
          <p:nvPr/>
        </p:nvSpPr>
        <p:spPr>
          <a:xfrm>
            <a:off x="457200" y="3291840"/>
            <a:ext cx="1463040" cy="365760"/>
          </a:xfrm>
          <a:prstGeom prst="rect">
            <a:avLst/>
          </a:prstGeom>
          <a:noFill/>
          <a:ln/>
        </p:spPr>
        <p:txBody>
          <a:bodyPr wrap="square" lIns="0" tIns="0" rIns="0" bIns="0" rtlCol="0" anchor="t"/>
          <a:lstStyle/>
          <a:p>
            <a:pPr marL="0" indent="0" algn="l">
              <a:buNone/>
            </a:pPr>
            <a:r>
              <a:rPr lang="en-US" sz="900" dirty="0">
                <a:solidFill>
                  <a:srgbClr val="8C8C8C"/>
                </a:solidFill>
                <a:latin typeface="Arial" pitchFamily="34" charset="0"/>
                <a:ea typeface="Arial" pitchFamily="34" charset="-122"/>
                <a:cs typeface="Arial" pitchFamily="34" charset="-120"/>
              </a:rPr>
              <a:t>Reels · TikTok · Stories</a:t>
            </a:r>
            <a:endParaRPr lang="en-US" sz="900" dirty="0"/>
          </a:p>
        </p:txBody>
      </p:sp>
      <p:sp>
        <p:nvSpPr>
          <p:cNvPr id="8" name="Shape 6"/>
          <p:cNvSpPr/>
          <p:nvPr/>
        </p:nvSpPr>
        <p:spPr>
          <a:xfrm>
            <a:off x="1508760" y="1897380"/>
            <a:ext cx="969264" cy="1216152"/>
          </a:xfrm>
          <a:prstGeom prst="roundRect">
            <a:avLst>
              <a:gd name="adj" fmla="val 5660"/>
            </a:avLst>
          </a:prstGeom>
          <a:solidFill>
            <a:srgbClr val="F0F0F0"/>
          </a:solidFill>
          <a:ln w="12700">
            <a:solidFill>
              <a:srgbClr val="E4E4E4"/>
            </a:solidFill>
            <a:prstDash val="solid"/>
          </a:ln>
        </p:spPr>
        <p:txBody>
          <a:bodyPr/>
          <a:lstStyle/>
          <a:p>
            <a:endParaRPr lang="en-EG"/>
          </a:p>
        </p:txBody>
      </p:sp>
      <p:sp>
        <p:nvSpPr>
          <p:cNvPr id="9" name="Text 7"/>
          <p:cNvSpPr/>
          <p:nvPr/>
        </p:nvSpPr>
        <p:spPr>
          <a:xfrm>
            <a:off x="1508760" y="1897380"/>
            <a:ext cx="969264" cy="1216152"/>
          </a:xfrm>
          <a:prstGeom prst="rect">
            <a:avLst/>
          </a:prstGeom>
          <a:noFill/>
          <a:ln/>
        </p:spPr>
        <p:txBody>
          <a:bodyPr wrap="square" lIns="0" tIns="0" rIns="0" bIns="0" rtlCol="0" anchor="ctr"/>
          <a:lstStyle/>
          <a:p>
            <a:pPr marL="0" indent="0" algn="ctr">
              <a:buNone/>
            </a:pPr>
            <a:r>
              <a:rPr lang="en-US" sz="1400" b="1" dirty="0">
                <a:solidFill>
                  <a:srgbClr val="0A0A0A"/>
                </a:solidFill>
                <a:latin typeface="Arial" pitchFamily="34" charset="0"/>
                <a:ea typeface="Arial" pitchFamily="34" charset="-122"/>
                <a:cs typeface="Arial" pitchFamily="34" charset="-120"/>
              </a:rPr>
              <a:t>4:5</a:t>
            </a:r>
            <a:endParaRPr lang="en-US" sz="1400" dirty="0"/>
          </a:p>
        </p:txBody>
      </p:sp>
      <p:sp>
        <p:nvSpPr>
          <p:cNvPr id="10" name="Text 8"/>
          <p:cNvSpPr/>
          <p:nvPr/>
        </p:nvSpPr>
        <p:spPr>
          <a:xfrm>
            <a:off x="1508760" y="3291840"/>
            <a:ext cx="1746504" cy="365760"/>
          </a:xfrm>
          <a:prstGeom prst="rect">
            <a:avLst/>
          </a:prstGeom>
          <a:noFill/>
          <a:ln/>
        </p:spPr>
        <p:txBody>
          <a:bodyPr wrap="square" lIns="0" tIns="0" rIns="0" bIns="0" rtlCol="0" anchor="t"/>
          <a:lstStyle/>
          <a:p>
            <a:pPr marL="0" indent="0" algn="l">
              <a:buNone/>
            </a:pPr>
            <a:r>
              <a:rPr lang="en-US" sz="900" dirty="0">
                <a:solidFill>
                  <a:srgbClr val="8C8C8C"/>
                </a:solidFill>
                <a:latin typeface="Arial" pitchFamily="34" charset="0"/>
                <a:ea typeface="Arial" pitchFamily="34" charset="-122"/>
                <a:cs typeface="Arial" pitchFamily="34" charset="-120"/>
              </a:rPr>
              <a:t>Feed</a:t>
            </a:r>
            <a:endParaRPr lang="en-US" sz="900" dirty="0"/>
          </a:p>
        </p:txBody>
      </p:sp>
      <p:sp>
        <p:nvSpPr>
          <p:cNvPr id="11" name="Shape 9"/>
          <p:cNvSpPr/>
          <p:nvPr/>
        </p:nvSpPr>
        <p:spPr>
          <a:xfrm>
            <a:off x="2843784" y="1897380"/>
            <a:ext cx="1216152" cy="1216152"/>
          </a:xfrm>
          <a:prstGeom prst="roundRect">
            <a:avLst>
              <a:gd name="adj" fmla="val 4511"/>
            </a:avLst>
          </a:prstGeom>
          <a:solidFill>
            <a:srgbClr val="F0F0F0"/>
          </a:solidFill>
          <a:ln w="12700">
            <a:solidFill>
              <a:srgbClr val="E4E4E4"/>
            </a:solidFill>
            <a:prstDash val="solid"/>
          </a:ln>
        </p:spPr>
        <p:txBody>
          <a:bodyPr/>
          <a:lstStyle/>
          <a:p>
            <a:endParaRPr lang="en-EG"/>
          </a:p>
        </p:txBody>
      </p:sp>
      <p:sp>
        <p:nvSpPr>
          <p:cNvPr id="12" name="Text 10"/>
          <p:cNvSpPr/>
          <p:nvPr/>
        </p:nvSpPr>
        <p:spPr>
          <a:xfrm>
            <a:off x="2843784" y="1897380"/>
            <a:ext cx="1216152" cy="1216152"/>
          </a:xfrm>
          <a:prstGeom prst="rect">
            <a:avLst/>
          </a:prstGeom>
          <a:noFill/>
          <a:ln/>
        </p:spPr>
        <p:txBody>
          <a:bodyPr wrap="square" lIns="0" tIns="0" rIns="0" bIns="0" rtlCol="0" anchor="ctr"/>
          <a:lstStyle/>
          <a:p>
            <a:pPr marL="0" indent="0" algn="ctr">
              <a:buNone/>
            </a:pPr>
            <a:r>
              <a:rPr lang="en-US" sz="1400" b="1" dirty="0">
                <a:solidFill>
                  <a:srgbClr val="0A0A0A"/>
                </a:solidFill>
                <a:latin typeface="Arial" pitchFamily="34" charset="0"/>
                <a:ea typeface="Arial" pitchFamily="34" charset="-122"/>
                <a:cs typeface="Arial" pitchFamily="34" charset="-120"/>
              </a:rPr>
              <a:t>1:1</a:t>
            </a:r>
            <a:endParaRPr lang="en-US" sz="1400" dirty="0"/>
          </a:p>
        </p:txBody>
      </p:sp>
      <p:sp>
        <p:nvSpPr>
          <p:cNvPr id="13" name="Text 11"/>
          <p:cNvSpPr/>
          <p:nvPr/>
        </p:nvSpPr>
        <p:spPr>
          <a:xfrm>
            <a:off x="2843784" y="3291840"/>
            <a:ext cx="1993392" cy="365760"/>
          </a:xfrm>
          <a:prstGeom prst="rect">
            <a:avLst/>
          </a:prstGeom>
          <a:noFill/>
          <a:ln/>
        </p:spPr>
        <p:txBody>
          <a:bodyPr wrap="square" lIns="0" tIns="0" rIns="0" bIns="0" rtlCol="0" anchor="t"/>
          <a:lstStyle/>
          <a:p>
            <a:pPr marL="0" indent="0" algn="l">
              <a:buNone/>
            </a:pPr>
            <a:r>
              <a:rPr lang="en-US" sz="900" dirty="0">
                <a:solidFill>
                  <a:srgbClr val="8C8C8C"/>
                </a:solidFill>
                <a:latin typeface="Arial" pitchFamily="34" charset="0"/>
                <a:ea typeface="Arial" pitchFamily="34" charset="-122"/>
                <a:cs typeface="Arial" pitchFamily="34" charset="-120"/>
              </a:rPr>
              <a:t>Grid · Display</a:t>
            </a:r>
            <a:endParaRPr lang="en-US" sz="900" dirty="0"/>
          </a:p>
        </p:txBody>
      </p:sp>
      <p:sp>
        <p:nvSpPr>
          <p:cNvPr id="14" name="Shape 12"/>
          <p:cNvSpPr/>
          <p:nvPr/>
        </p:nvSpPr>
        <p:spPr>
          <a:xfrm>
            <a:off x="4425696" y="2048256"/>
            <a:ext cx="1618488" cy="914400"/>
          </a:xfrm>
          <a:prstGeom prst="roundRect">
            <a:avLst>
              <a:gd name="adj" fmla="val 6000"/>
            </a:avLst>
          </a:prstGeom>
          <a:solidFill>
            <a:srgbClr val="F0F0F0"/>
          </a:solidFill>
          <a:ln w="12700">
            <a:solidFill>
              <a:srgbClr val="E4E4E4"/>
            </a:solidFill>
            <a:prstDash val="solid"/>
          </a:ln>
        </p:spPr>
        <p:txBody>
          <a:bodyPr/>
          <a:lstStyle/>
          <a:p>
            <a:endParaRPr lang="en-EG"/>
          </a:p>
        </p:txBody>
      </p:sp>
      <p:sp>
        <p:nvSpPr>
          <p:cNvPr id="15" name="Text 13"/>
          <p:cNvSpPr/>
          <p:nvPr/>
        </p:nvSpPr>
        <p:spPr>
          <a:xfrm>
            <a:off x="4425696" y="2048256"/>
            <a:ext cx="1618488" cy="914400"/>
          </a:xfrm>
          <a:prstGeom prst="rect">
            <a:avLst/>
          </a:prstGeom>
          <a:noFill/>
          <a:ln/>
        </p:spPr>
        <p:txBody>
          <a:bodyPr wrap="square" lIns="0" tIns="0" rIns="0" bIns="0" rtlCol="0" anchor="ctr"/>
          <a:lstStyle/>
          <a:p>
            <a:pPr marL="0" indent="0" algn="ctr">
              <a:buNone/>
            </a:pPr>
            <a:r>
              <a:rPr lang="en-US" sz="1400" b="1" dirty="0">
                <a:solidFill>
                  <a:srgbClr val="0A0A0A"/>
                </a:solidFill>
                <a:latin typeface="Arial" pitchFamily="34" charset="0"/>
                <a:ea typeface="Arial" pitchFamily="34" charset="-122"/>
                <a:cs typeface="Arial" pitchFamily="34" charset="-120"/>
              </a:rPr>
              <a:t>16:9</a:t>
            </a:r>
            <a:endParaRPr lang="en-US" sz="1400" dirty="0"/>
          </a:p>
        </p:txBody>
      </p:sp>
      <p:sp>
        <p:nvSpPr>
          <p:cNvPr id="16" name="Text 14"/>
          <p:cNvSpPr/>
          <p:nvPr/>
        </p:nvSpPr>
        <p:spPr>
          <a:xfrm>
            <a:off x="4425696" y="3291840"/>
            <a:ext cx="2395728" cy="365760"/>
          </a:xfrm>
          <a:prstGeom prst="rect">
            <a:avLst/>
          </a:prstGeom>
          <a:noFill/>
          <a:ln/>
        </p:spPr>
        <p:txBody>
          <a:bodyPr wrap="square" lIns="0" tIns="0" rIns="0" bIns="0" rtlCol="0" anchor="t"/>
          <a:lstStyle/>
          <a:p>
            <a:pPr marL="0" indent="0" algn="l">
              <a:buNone/>
            </a:pPr>
            <a:r>
              <a:rPr lang="en-US" sz="900" dirty="0">
                <a:solidFill>
                  <a:srgbClr val="8C8C8C"/>
                </a:solidFill>
                <a:latin typeface="Arial" pitchFamily="34" charset="0"/>
                <a:ea typeface="Arial" pitchFamily="34" charset="-122"/>
                <a:cs typeface="Arial" pitchFamily="34" charset="-120"/>
              </a:rPr>
              <a:t>YouTube · TV</a:t>
            </a:r>
            <a:endParaRPr lang="en-US" sz="900" dirty="0"/>
          </a:p>
        </p:txBody>
      </p:sp>
      <p:sp>
        <p:nvSpPr>
          <p:cNvPr id="17" name="Shape 15"/>
          <p:cNvSpPr/>
          <p:nvPr/>
        </p:nvSpPr>
        <p:spPr>
          <a:xfrm>
            <a:off x="6172200" y="1865376"/>
            <a:ext cx="2514600" cy="1600200"/>
          </a:xfrm>
          <a:prstGeom prst="roundRect">
            <a:avLst>
              <a:gd name="adj" fmla="val 4571"/>
            </a:avLst>
          </a:prstGeom>
          <a:solidFill>
            <a:srgbClr val="0A0A0A"/>
          </a:solidFill>
          <a:ln/>
        </p:spPr>
        <p:txBody>
          <a:bodyPr/>
          <a:lstStyle/>
          <a:p>
            <a:endParaRPr lang="en-EG"/>
          </a:p>
        </p:txBody>
      </p:sp>
      <p:sp>
        <p:nvSpPr>
          <p:cNvPr id="18" name="Text 16"/>
          <p:cNvSpPr/>
          <p:nvPr/>
        </p:nvSpPr>
        <p:spPr>
          <a:xfrm>
            <a:off x="6382512" y="2029968"/>
            <a:ext cx="2103120" cy="237744"/>
          </a:xfrm>
          <a:prstGeom prst="rect">
            <a:avLst/>
          </a:prstGeom>
          <a:noFill/>
          <a:ln/>
        </p:spPr>
        <p:txBody>
          <a:bodyPr wrap="square" lIns="0" tIns="0" rIns="0" bIns="0" rtlCol="0" anchor="ctr"/>
          <a:lstStyle/>
          <a:p>
            <a:pPr marL="0" indent="0">
              <a:buNone/>
            </a:pPr>
            <a:r>
              <a:rPr lang="en-US" sz="1000" b="1" kern="0" spc="100" dirty="0">
                <a:solidFill>
                  <a:srgbClr val="FF3B00"/>
                </a:solidFill>
                <a:latin typeface="Arial" pitchFamily="34" charset="0"/>
                <a:ea typeface="Arial" pitchFamily="34" charset="-122"/>
                <a:cs typeface="Arial" pitchFamily="34" charset="-120"/>
              </a:rPr>
              <a:t>SAFE-AREA THINKING</a:t>
            </a:r>
            <a:endParaRPr lang="en-US" sz="1000" dirty="0"/>
          </a:p>
        </p:txBody>
      </p:sp>
      <p:sp>
        <p:nvSpPr>
          <p:cNvPr id="19" name="Text 17"/>
          <p:cNvSpPr/>
          <p:nvPr/>
        </p:nvSpPr>
        <p:spPr>
          <a:xfrm>
            <a:off x="6382512" y="2340864"/>
            <a:ext cx="2103120" cy="1005840"/>
          </a:xfrm>
          <a:prstGeom prst="rect">
            <a:avLst/>
          </a:prstGeom>
          <a:noFill/>
          <a:ln/>
        </p:spPr>
        <p:txBody>
          <a:bodyPr wrap="square" lIns="0" tIns="0" rIns="0" bIns="0" rtlCol="0" anchor="t"/>
          <a:lstStyle/>
          <a:p>
            <a:pPr marL="0" indent="0">
              <a:lnSpc>
                <a:spcPts val="1400"/>
              </a:lnSpc>
              <a:buNone/>
            </a:pPr>
            <a:r>
              <a:rPr lang="en-US" sz="1050" dirty="0">
                <a:solidFill>
                  <a:srgbClr val="FFFFFF"/>
                </a:solidFill>
                <a:latin typeface="Arial" pitchFamily="34" charset="0"/>
                <a:ea typeface="Arial" pitchFamily="34" charset="-122"/>
                <a:cs typeface="Arial" pitchFamily="34" charset="-120"/>
              </a:rPr>
              <a:t>Keep faces, product and text inside the central 1:1 zone. Let only atmosphere live in the edges you are willing to lose.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21036C-78F5-330C-E26B-0E3AD835D46A}"/>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E8D56B72-D2A9-6D9F-CE15-B3906F2A7B88}"/>
              </a:ext>
            </a:extLst>
          </p:cNvPr>
          <p:cNvSpPr/>
          <p:nvPr/>
        </p:nvSpPr>
        <p:spPr>
          <a:xfrm>
            <a:off x="457200" y="640080"/>
            <a:ext cx="8229600" cy="502920"/>
          </a:xfrm>
          <a:prstGeom prst="rect">
            <a:avLst/>
          </a:prstGeom>
          <a:noFill/>
          <a:ln/>
        </p:spPr>
        <p:txBody>
          <a:bodyPr wrap="square" lIns="0" tIns="0" rIns="0" bIns="0" rtlCol="0" anchor="t"/>
          <a:lstStyle/>
          <a:p>
            <a:r>
              <a:rPr lang="en-EG" sz="3000" b="1" dirty="0">
                <a:solidFill>
                  <a:srgbClr val="0A0A0A"/>
                </a:solidFill>
                <a:latin typeface="Arial" pitchFamily="34" charset="0"/>
                <a:cs typeface="Arial" pitchFamily="34" charset="-120"/>
              </a:rPr>
              <a:t>Master Visual Direction</a:t>
            </a:r>
          </a:p>
        </p:txBody>
      </p:sp>
      <p:sp>
        <p:nvSpPr>
          <p:cNvPr id="6" name="Text 2">
            <a:extLst>
              <a:ext uri="{FF2B5EF4-FFF2-40B4-BE49-F238E27FC236}">
                <a16:creationId xmlns:a16="http://schemas.microsoft.com/office/drawing/2014/main" id="{DB5761E5-E152-9C4E-AD97-F495C59AA266}"/>
              </a:ext>
            </a:extLst>
          </p:cNvPr>
          <p:cNvSpPr/>
          <p:nvPr/>
        </p:nvSpPr>
        <p:spPr>
          <a:xfrm>
            <a:off x="457200" y="1152144"/>
            <a:ext cx="8229600" cy="256032"/>
          </a:xfrm>
          <a:prstGeom prst="rect">
            <a:avLst/>
          </a:prstGeom>
          <a:noFill/>
          <a:ln/>
        </p:spPr>
        <p:txBody>
          <a:bodyPr wrap="square" lIns="0" tIns="0" rIns="0" bIns="0" rtlCol="0" anchor="ctr"/>
          <a:lstStyle/>
          <a:p>
            <a:r>
              <a:rPr lang="en-EG" sz="1200" dirty="0">
                <a:solidFill>
                  <a:srgbClr val="3A3A3A"/>
                </a:solidFill>
                <a:latin typeface="Arial" pitchFamily="34" charset="0"/>
                <a:cs typeface="Arial" pitchFamily="34" charset="-120"/>
              </a:rPr>
              <a:t>Prompt example.</a:t>
            </a:r>
            <a:endParaRPr lang="en-US" sz="1200" dirty="0">
              <a:solidFill>
                <a:srgbClr val="3A3A3A"/>
              </a:solidFill>
              <a:latin typeface="Arial" pitchFamily="34" charset="0"/>
              <a:cs typeface="Arial" pitchFamily="34" charset="-120"/>
            </a:endParaRPr>
          </a:p>
        </p:txBody>
      </p:sp>
      <p:sp>
        <p:nvSpPr>
          <p:cNvPr id="7" name="Shape 3">
            <a:extLst>
              <a:ext uri="{FF2B5EF4-FFF2-40B4-BE49-F238E27FC236}">
                <a16:creationId xmlns:a16="http://schemas.microsoft.com/office/drawing/2014/main" id="{504A3298-4708-30A3-784C-56F76628C0AB}"/>
              </a:ext>
            </a:extLst>
          </p:cNvPr>
          <p:cNvSpPr/>
          <p:nvPr/>
        </p:nvSpPr>
        <p:spPr>
          <a:xfrm>
            <a:off x="457200" y="2244370"/>
            <a:ext cx="8028432" cy="1665477"/>
          </a:xfrm>
          <a:prstGeom prst="roundRect">
            <a:avLst>
              <a:gd name="adj" fmla="val 5263"/>
            </a:avLst>
          </a:prstGeom>
          <a:solidFill>
            <a:srgbClr val="F6F6F6"/>
          </a:solidFill>
          <a:ln/>
        </p:spPr>
        <p:txBody>
          <a:bodyPr/>
          <a:lstStyle/>
          <a:p>
            <a:endParaRPr lang="en-EG"/>
          </a:p>
        </p:txBody>
      </p:sp>
      <p:sp>
        <p:nvSpPr>
          <p:cNvPr id="12" name="Text 8">
            <a:extLst>
              <a:ext uri="{FF2B5EF4-FFF2-40B4-BE49-F238E27FC236}">
                <a16:creationId xmlns:a16="http://schemas.microsoft.com/office/drawing/2014/main" id="{479566F2-9FED-DC6B-7F9B-61793AAA3D57}"/>
              </a:ext>
            </a:extLst>
          </p:cNvPr>
          <p:cNvSpPr/>
          <p:nvPr/>
        </p:nvSpPr>
        <p:spPr>
          <a:xfrm>
            <a:off x="823440" y="2458671"/>
            <a:ext cx="7406159" cy="1346073"/>
          </a:xfrm>
          <a:prstGeom prst="rect">
            <a:avLst/>
          </a:prstGeom>
          <a:noFill/>
          <a:ln/>
        </p:spPr>
        <p:txBody>
          <a:bodyPr wrap="square" lIns="0" tIns="0" rIns="0" bIns="0" rtlCol="0" anchor="t"/>
          <a:lstStyle/>
          <a:p>
            <a:pPr>
              <a:lnSpc>
                <a:spcPts val="1200"/>
              </a:lnSpc>
            </a:pPr>
            <a:r>
              <a:rPr lang="en-EG" sz="950" dirty="0">
                <a:solidFill>
                  <a:srgbClr val="8C8C8C"/>
                </a:solidFill>
                <a:latin typeface="Arial" pitchFamily="34" charset="0"/>
                <a:cs typeface="Arial" pitchFamily="34" charset="-120"/>
              </a:rPr>
              <a:t>Scene Jamila, a 21 year old Egyptian woman with dark brown wavy shoulder-length hair, warm brown eyes, olive tan skin, soft round face, average slim body, wearing cozy light blue long pajama pants and a matching button-up pajama shirt, barefoot, slightly messy morning hair, natural sleepy face, sits tired on the edge of her bed in a small modern student bedroom. Books and a laptop are on the desk, soft morning light enters through the window, her expression is sleepy and unfocused, cinematic realistic Gen Z lifestyle commercial</a:t>
            </a:r>
          </a:p>
          <a:p>
            <a:pPr>
              <a:lnSpc>
                <a:spcPts val="1200"/>
              </a:lnSpc>
            </a:pPr>
            <a:r>
              <a:rPr lang="en-EG" sz="950" dirty="0">
                <a:solidFill>
                  <a:srgbClr val="8C8C8C"/>
                </a:solidFill>
                <a:latin typeface="Arial" pitchFamily="34" charset="0"/>
                <a:cs typeface="Arial" pitchFamily="34" charset="-120"/>
              </a:rPr>
              <a:t>Wide shot, shallow depth of field warm beige and soft brown color palette, 9:16 vertical format.</a:t>
            </a:r>
          </a:p>
          <a:p>
            <a:pPr>
              <a:lnSpc>
                <a:spcPts val="1200"/>
              </a:lnSpc>
            </a:pPr>
            <a:r>
              <a:rPr lang="en-EG" sz="950" dirty="0">
                <a:solidFill>
                  <a:srgbClr val="8C8C8C"/>
                </a:solidFill>
                <a:latin typeface="Arial" pitchFamily="34" charset="0"/>
                <a:cs typeface="Arial" pitchFamily="34" charset="-120"/>
              </a:rPr>
              <a:t>Negative prompt: blurry, distorted face, extra fingers, unrealistic anatomy, different outfit, different character, bad hands, text, watermark, low quality</a:t>
            </a:r>
          </a:p>
        </p:txBody>
      </p:sp>
      <p:sp>
        <p:nvSpPr>
          <p:cNvPr id="3" name="Text 2">
            <a:extLst>
              <a:ext uri="{FF2B5EF4-FFF2-40B4-BE49-F238E27FC236}">
                <a16:creationId xmlns:a16="http://schemas.microsoft.com/office/drawing/2014/main" id="{2A946D59-C7FE-002E-F7C2-EE3F723CD6EA}"/>
              </a:ext>
            </a:extLst>
          </p:cNvPr>
          <p:cNvSpPr/>
          <p:nvPr/>
        </p:nvSpPr>
        <p:spPr>
          <a:xfrm>
            <a:off x="457200" y="1578171"/>
            <a:ext cx="8229600" cy="443436"/>
          </a:xfrm>
          <a:prstGeom prst="rect">
            <a:avLst/>
          </a:prstGeom>
          <a:noFill/>
          <a:ln/>
        </p:spPr>
        <p:txBody>
          <a:bodyPr wrap="square" lIns="0" tIns="0" rIns="0" bIns="0" rtlCol="0" anchor="ctr"/>
          <a:lstStyle/>
          <a:p>
            <a:r>
              <a:rPr lang="en-EG" b="1" dirty="0"/>
              <a:t>Frame no. +  Frame description + Composition + Mood + Camera angle + Lighting + Technical format + Negative prompt</a:t>
            </a:r>
            <a:endParaRPr lang="en-US" b="1" dirty="0"/>
          </a:p>
        </p:txBody>
      </p:sp>
    </p:spTree>
    <p:extLst>
      <p:ext uri="{BB962C8B-B14F-4D97-AF65-F5344CB8AC3E}">
        <p14:creationId xmlns:p14="http://schemas.microsoft.com/office/powerpoint/2010/main" val="493517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FRAME CHAINING</a:t>
            </a:r>
            <a:endParaRPr lang="en-US" sz="3000" dirty="0"/>
          </a:p>
        </p:txBody>
      </p:sp>
      <p:sp>
        <p:nvSpPr>
          <p:cNvPr id="4" name="Text 2"/>
          <p:cNvSpPr/>
          <p:nvPr/>
        </p:nvSpPr>
        <p:spPr>
          <a:xfrm>
            <a:off x="457200" y="1481328"/>
            <a:ext cx="1005840" cy="365760"/>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SHOT 01</a:t>
            </a:r>
            <a:endParaRPr lang="en-US" sz="1200" dirty="0"/>
          </a:p>
        </p:txBody>
      </p:sp>
      <p:sp>
        <p:nvSpPr>
          <p:cNvPr id="5" name="Shape 3"/>
          <p:cNvSpPr/>
          <p:nvPr/>
        </p:nvSpPr>
        <p:spPr>
          <a:xfrm>
            <a:off x="1600200" y="1389888"/>
            <a:ext cx="2194560" cy="548640"/>
          </a:xfrm>
          <a:prstGeom prst="roundRect">
            <a:avLst>
              <a:gd name="adj" fmla="val 11667"/>
            </a:avLst>
          </a:prstGeom>
          <a:solidFill>
            <a:srgbClr val="F0F0F0"/>
          </a:solidFill>
          <a:ln/>
        </p:spPr>
        <p:txBody>
          <a:bodyPr/>
          <a:lstStyle/>
          <a:p>
            <a:endParaRPr lang="en-EG"/>
          </a:p>
        </p:txBody>
      </p:sp>
      <p:sp>
        <p:nvSpPr>
          <p:cNvPr id="6" name="Text 4"/>
          <p:cNvSpPr/>
          <p:nvPr/>
        </p:nvSpPr>
        <p:spPr>
          <a:xfrm>
            <a:off x="1600200" y="1389888"/>
            <a:ext cx="2194560" cy="548640"/>
          </a:xfrm>
          <a:prstGeom prst="rect">
            <a:avLst/>
          </a:prstGeom>
          <a:noFill/>
          <a:ln/>
        </p:spPr>
        <p:txBody>
          <a:bodyPr wrap="square" lIns="0" tIns="0" rIns="0" bIns="0" rtlCol="0" anchor="ctr"/>
          <a:lstStyle/>
          <a:p>
            <a:pPr marL="0" indent="0" algn="ctr">
              <a:buNone/>
            </a:pPr>
            <a:r>
              <a:rPr lang="en-US" sz="1100" b="1" dirty="0">
                <a:solidFill>
                  <a:srgbClr val="3A3A3A"/>
                </a:solidFill>
                <a:latin typeface="Arial" pitchFamily="34" charset="0"/>
                <a:ea typeface="Arial" pitchFamily="34" charset="-122"/>
                <a:cs typeface="Arial" pitchFamily="34" charset="-120"/>
              </a:rPr>
              <a:t>Opening</a:t>
            </a:r>
            <a:endParaRPr lang="en-US" sz="1100" dirty="0"/>
          </a:p>
        </p:txBody>
      </p:sp>
      <p:sp>
        <p:nvSpPr>
          <p:cNvPr id="7" name="Shape 5"/>
          <p:cNvSpPr/>
          <p:nvPr/>
        </p:nvSpPr>
        <p:spPr>
          <a:xfrm>
            <a:off x="3977640" y="1389888"/>
            <a:ext cx="2194560" cy="548640"/>
          </a:xfrm>
          <a:prstGeom prst="roundRect">
            <a:avLst>
              <a:gd name="adj" fmla="val 11667"/>
            </a:avLst>
          </a:prstGeom>
          <a:solidFill>
            <a:srgbClr val="F0F0F0"/>
          </a:solidFill>
          <a:ln/>
        </p:spPr>
        <p:txBody>
          <a:bodyPr/>
          <a:lstStyle/>
          <a:p>
            <a:endParaRPr lang="en-EG"/>
          </a:p>
        </p:txBody>
      </p:sp>
      <p:sp>
        <p:nvSpPr>
          <p:cNvPr id="8" name="Text 6"/>
          <p:cNvSpPr/>
          <p:nvPr/>
        </p:nvSpPr>
        <p:spPr>
          <a:xfrm>
            <a:off x="3977640" y="1389888"/>
            <a:ext cx="2194560" cy="548640"/>
          </a:xfrm>
          <a:prstGeom prst="rect">
            <a:avLst/>
          </a:prstGeom>
          <a:noFill/>
          <a:ln/>
        </p:spPr>
        <p:txBody>
          <a:bodyPr wrap="square" lIns="0" tIns="0" rIns="0" bIns="0" rtlCol="0" anchor="ctr"/>
          <a:lstStyle/>
          <a:p>
            <a:pPr marL="0" indent="0" algn="ctr">
              <a:buNone/>
            </a:pPr>
            <a:r>
              <a:rPr lang="en-US" sz="1100" b="1" dirty="0">
                <a:solidFill>
                  <a:srgbClr val="3A3A3A"/>
                </a:solidFill>
                <a:latin typeface="Arial" pitchFamily="34" charset="0"/>
                <a:ea typeface="Arial" pitchFamily="34" charset="-122"/>
                <a:cs typeface="Arial" pitchFamily="34" charset="-120"/>
              </a:rPr>
              <a:t>Action</a:t>
            </a:r>
            <a:endParaRPr lang="en-US" sz="1100" dirty="0"/>
          </a:p>
        </p:txBody>
      </p:sp>
      <p:sp>
        <p:nvSpPr>
          <p:cNvPr id="9" name="Shape 7"/>
          <p:cNvSpPr/>
          <p:nvPr/>
        </p:nvSpPr>
        <p:spPr>
          <a:xfrm>
            <a:off x="6355080" y="1389888"/>
            <a:ext cx="2194560" cy="548640"/>
          </a:xfrm>
          <a:prstGeom prst="roundRect">
            <a:avLst>
              <a:gd name="adj" fmla="val 11667"/>
            </a:avLst>
          </a:prstGeom>
          <a:solidFill>
            <a:srgbClr val="FF3B00"/>
          </a:solidFill>
          <a:ln/>
        </p:spPr>
        <p:txBody>
          <a:bodyPr/>
          <a:lstStyle/>
          <a:p>
            <a:endParaRPr lang="en-EG"/>
          </a:p>
        </p:txBody>
      </p:sp>
      <p:sp>
        <p:nvSpPr>
          <p:cNvPr id="10" name="Text 8"/>
          <p:cNvSpPr/>
          <p:nvPr/>
        </p:nvSpPr>
        <p:spPr>
          <a:xfrm>
            <a:off x="6355080" y="1389888"/>
            <a:ext cx="219456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END FRAME</a:t>
            </a:r>
            <a:endParaRPr lang="en-US" sz="1100" dirty="0"/>
          </a:p>
        </p:txBody>
      </p:sp>
      <p:sp>
        <p:nvSpPr>
          <p:cNvPr id="11" name="Text 9"/>
          <p:cNvSpPr/>
          <p:nvPr/>
        </p:nvSpPr>
        <p:spPr>
          <a:xfrm>
            <a:off x="457200" y="2532888"/>
            <a:ext cx="1005840" cy="365760"/>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SHOT 02</a:t>
            </a:r>
            <a:endParaRPr lang="en-US" sz="1200" dirty="0"/>
          </a:p>
        </p:txBody>
      </p:sp>
      <p:sp>
        <p:nvSpPr>
          <p:cNvPr id="12" name="Shape 10"/>
          <p:cNvSpPr/>
          <p:nvPr/>
        </p:nvSpPr>
        <p:spPr>
          <a:xfrm>
            <a:off x="1600200" y="2441448"/>
            <a:ext cx="2194560" cy="548640"/>
          </a:xfrm>
          <a:prstGeom prst="roundRect">
            <a:avLst>
              <a:gd name="adj" fmla="val 11667"/>
            </a:avLst>
          </a:prstGeom>
          <a:solidFill>
            <a:srgbClr val="FF3B00"/>
          </a:solidFill>
          <a:ln/>
        </p:spPr>
        <p:txBody>
          <a:bodyPr/>
          <a:lstStyle/>
          <a:p>
            <a:endParaRPr lang="en-EG"/>
          </a:p>
        </p:txBody>
      </p:sp>
      <p:sp>
        <p:nvSpPr>
          <p:cNvPr id="13" name="Text 11"/>
          <p:cNvSpPr/>
          <p:nvPr/>
        </p:nvSpPr>
        <p:spPr>
          <a:xfrm>
            <a:off x="1600200" y="2441448"/>
            <a:ext cx="219456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 FRAME</a:t>
            </a:r>
            <a:endParaRPr lang="en-US" sz="1100" dirty="0"/>
          </a:p>
        </p:txBody>
      </p:sp>
      <p:sp>
        <p:nvSpPr>
          <p:cNvPr id="14" name="Shape 12"/>
          <p:cNvSpPr/>
          <p:nvPr/>
        </p:nvSpPr>
        <p:spPr>
          <a:xfrm>
            <a:off x="3977640" y="2441448"/>
            <a:ext cx="2194560" cy="548640"/>
          </a:xfrm>
          <a:prstGeom prst="roundRect">
            <a:avLst>
              <a:gd name="adj" fmla="val 11667"/>
            </a:avLst>
          </a:prstGeom>
          <a:solidFill>
            <a:srgbClr val="F0F0F0"/>
          </a:solidFill>
          <a:ln/>
        </p:spPr>
        <p:txBody>
          <a:bodyPr/>
          <a:lstStyle/>
          <a:p>
            <a:endParaRPr lang="en-EG"/>
          </a:p>
        </p:txBody>
      </p:sp>
      <p:sp>
        <p:nvSpPr>
          <p:cNvPr id="15" name="Text 13"/>
          <p:cNvSpPr/>
          <p:nvPr/>
        </p:nvSpPr>
        <p:spPr>
          <a:xfrm>
            <a:off x="3977640" y="2441448"/>
            <a:ext cx="2194560" cy="548640"/>
          </a:xfrm>
          <a:prstGeom prst="rect">
            <a:avLst/>
          </a:prstGeom>
          <a:noFill/>
          <a:ln/>
        </p:spPr>
        <p:txBody>
          <a:bodyPr wrap="square" lIns="0" tIns="0" rIns="0" bIns="0" rtlCol="0" anchor="ctr"/>
          <a:lstStyle/>
          <a:p>
            <a:pPr marL="0" indent="0" algn="ctr">
              <a:buNone/>
            </a:pPr>
            <a:r>
              <a:rPr lang="en-US" sz="1100" b="1" dirty="0">
                <a:solidFill>
                  <a:srgbClr val="3A3A3A"/>
                </a:solidFill>
                <a:latin typeface="Arial" pitchFamily="34" charset="0"/>
                <a:ea typeface="Arial" pitchFamily="34" charset="-122"/>
                <a:cs typeface="Arial" pitchFamily="34" charset="-120"/>
              </a:rPr>
              <a:t>Action</a:t>
            </a:r>
            <a:endParaRPr lang="en-US" sz="1100" dirty="0"/>
          </a:p>
        </p:txBody>
      </p:sp>
      <p:sp>
        <p:nvSpPr>
          <p:cNvPr id="16" name="Shape 14"/>
          <p:cNvSpPr/>
          <p:nvPr/>
        </p:nvSpPr>
        <p:spPr>
          <a:xfrm>
            <a:off x="6355080" y="2441448"/>
            <a:ext cx="2194560" cy="548640"/>
          </a:xfrm>
          <a:prstGeom prst="roundRect">
            <a:avLst>
              <a:gd name="adj" fmla="val 11667"/>
            </a:avLst>
          </a:prstGeom>
          <a:solidFill>
            <a:srgbClr val="F0F0F0"/>
          </a:solidFill>
          <a:ln/>
        </p:spPr>
        <p:txBody>
          <a:bodyPr/>
          <a:lstStyle/>
          <a:p>
            <a:endParaRPr lang="en-EG"/>
          </a:p>
        </p:txBody>
      </p:sp>
      <p:sp>
        <p:nvSpPr>
          <p:cNvPr id="17" name="Text 15"/>
          <p:cNvSpPr/>
          <p:nvPr/>
        </p:nvSpPr>
        <p:spPr>
          <a:xfrm>
            <a:off x="6355080" y="2441448"/>
            <a:ext cx="2194560" cy="548640"/>
          </a:xfrm>
          <a:prstGeom prst="rect">
            <a:avLst/>
          </a:prstGeom>
          <a:noFill/>
          <a:ln/>
        </p:spPr>
        <p:txBody>
          <a:bodyPr wrap="square" lIns="0" tIns="0" rIns="0" bIns="0" rtlCol="0" anchor="ctr"/>
          <a:lstStyle/>
          <a:p>
            <a:pPr marL="0" indent="0" algn="ctr">
              <a:buNone/>
            </a:pPr>
            <a:r>
              <a:rPr lang="en-US" sz="1100" b="1" dirty="0">
                <a:solidFill>
                  <a:srgbClr val="3A3A3A"/>
                </a:solidFill>
                <a:latin typeface="Arial" pitchFamily="34" charset="0"/>
                <a:ea typeface="Arial" pitchFamily="34" charset="-122"/>
                <a:cs typeface="Arial" pitchFamily="34" charset="-120"/>
              </a:rPr>
              <a:t>End</a:t>
            </a:r>
            <a:endParaRPr lang="en-US" sz="1100" dirty="0"/>
          </a:p>
        </p:txBody>
      </p:sp>
      <p:sp>
        <p:nvSpPr>
          <p:cNvPr id="18" name="Text 16"/>
          <p:cNvSpPr/>
          <p:nvPr/>
        </p:nvSpPr>
        <p:spPr>
          <a:xfrm>
            <a:off x="6355080" y="1975104"/>
            <a:ext cx="2194560" cy="329184"/>
          </a:xfrm>
          <a:prstGeom prst="rect">
            <a:avLst/>
          </a:prstGeom>
          <a:noFill/>
          <a:ln/>
        </p:spPr>
        <p:txBody>
          <a:bodyPr wrap="square" lIns="0" tIns="0" rIns="0" bIns="0" rtlCol="0" anchor="ctr"/>
          <a:lstStyle/>
          <a:p>
            <a:pPr marL="0" indent="0" algn="ctr">
              <a:buNone/>
            </a:pPr>
            <a:r>
              <a:rPr lang="en-US" sz="950" b="1" dirty="0">
                <a:solidFill>
                  <a:srgbClr val="FF3B00"/>
                </a:solidFill>
                <a:latin typeface="Arial" pitchFamily="34" charset="0"/>
                <a:ea typeface="Arial" pitchFamily="34" charset="-122"/>
                <a:cs typeface="Arial" pitchFamily="34" charset="-120"/>
              </a:rPr>
              <a:t>↓  same composition</a:t>
            </a:r>
            <a:endParaRPr lang="en-US" sz="950" dirty="0"/>
          </a:p>
        </p:txBody>
      </p:sp>
      <p:sp>
        <p:nvSpPr>
          <p:cNvPr id="19" name="Text 17"/>
          <p:cNvSpPr/>
          <p:nvPr/>
        </p:nvSpPr>
        <p:spPr>
          <a:xfrm>
            <a:off x="457200" y="3675888"/>
            <a:ext cx="8229600" cy="777240"/>
          </a:xfrm>
          <a:prstGeom prst="rect">
            <a:avLst/>
          </a:prstGeom>
          <a:noFill/>
          <a:ln/>
        </p:spPr>
        <p:txBody>
          <a:bodyPr wrap="square" lIns="0" tIns="0" rIns="0" bIns="0" rtlCol="0" anchor="t"/>
          <a:lstStyle/>
          <a:p>
            <a:pPr marL="0" indent="0">
              <a:lnSpc>
                <a:spcPts val="2300"/>
              </a:lnSpc>
              <a:buNone/>
            </a:pPr>
            <a:r>
              <a:rPr lang="en-US" sz="1500" b="1" dirty="0">
                <a:solidFill>
                  <a:srgbClr val="0A0A0A"/>
                </a:solidFill>
                <a:latin typeface="Arial" pitchFamily="34" charset="0"/>
                <a:ea typeface="Arial" pitchFamily="34" charset="-122"/>
                <a:cs typeface="Arial" pitchFamily="34" charset="-120"/>
              </a:rPr>
              <a:t>Design the handoff, not just the shot.</a:t>
            </a:r>
            <a:endParaRPr lang="en-US" sz="1500" dirty="0"/>
          </a:p>
          <a:p>
            <a:pPr marL="0" indent="0">
              <a:lnSpc>
                <a:spcPts val="2300"/>
              </a:lnSpc>
              <a:buNone/>
            </a:pPr>
            <a:r>
              <a:rPr lang="en-US" sz="1500" b="1" dirty="0">
                <a:solidFill>
                  <a:srgbClr val="0A0A0A"/>
                </a:solidFill>
                <a:latin typeface="Arial" pitchFamily="34" charset="0"/>
                <a:ea typeface="Arial" pitchFamily="34" charset="-122"/>
                <a:cs typeface="Arial" pitchFamily="34" charset="-120"/>
              </a:rPr>
              <a:t>This is the difference between a film and a pile of clips.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621792"/>
            <a:ext cx="8229600" cy="45720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REPAIR LADDER</a:t>
            </a:r>
            <a:endParaRPr lang="en-US" sz="3000" dirty="0"/>
          </a:p>
        </p:txBody>
      </p:sp>
      <p:sp>
        <p:nvSpPr>
          <p:cNvPr id="4" name="Text 2"/>
          <p:cNvSpPr/>
          <p:nvPr/>
        </p:nvSpPr>
        <p:spPr>
          <a:xfrm>
            <a:off x="457200" y="1097280"/>
            <a:ext cx="8229600" cy="256032"/>
          </a:xfrm>
          <a:prstGeom prst="rect">
            <a:avLst/>
          </a:prstGeom>
          <a:noFill/>
          <a:ln/>
        </p:spPr>
        <p:txBody>
          <a:bodyPr wrap="square" lIns="0" tIns="0" rIns="0" bIns="0" rtlCol="0" anchor="ctr"/>
          <a:lstStyle/>
          <a:p>
            <a:pPr marL="0" indent="0">
              <a:buNone/>
            </a:pPr>
            <a:r>
              <a:rPr lang="en-US" sz="1250" dirty="0">
                <a:solidFill>
                  <a:srgbClr val="3A3A3A"/>
                </a:solidFill>
                <a:latin typeface="Arial" pitchFamily="34" charset="0"/>
                <a:ea typeface="Arial" pitchFamily="34" charset="-122"/>
                <a:cs typeface="Arial" pitchFamily="34" charset="-120"/>
              </a:rPr>
              <a:t>The frame came out wrong. Start at the first step. Only move right if you have to.</a:t>
            </a:r>
            <a:endParaRPr lang="en-US" sz="1250" dirty="0"/>
          </a:p>
        </p:txBody>
      </p:sp>
      <p:sp>
        <p:nvSpPr>
          <p:cNvPr id="5" name="Text 3"/>
          <p:cNvSpPr/>
          <p:nvPr/>
        </p:nvSpPr>
        <p:spPr>
          <a:xfrm>
            <a:off x="457200" y="1627632"/>
            <a:ext cx="2743200" cy="219456"/>
          </a:xfrm>
          <a:prstGeom prst="rect">
            <a:avLst/>
          </a:prstGeom>
          <a:noFill/>
          <a:ln/>
        </p:spPr>
        <p:txBody>
          <a:bodyPr wrap="square" lIns="0" tIns="0" rIns="0" bIns="0" rtlCol="0" anchor="ctr"/>
          <a:lstStyle/>
          <a:p>
            <a:pPr marL="0" indent="0">
              <a:buNone/>
            </a:pPr>
            <a:r>
              <a:rPr lang="en-US" sz="950" b="1" kern="0" spc="150" dirty="0">
                <a:solidFill>
                  <a:srgbClr val="8C8C8C"/>
                </a:solidFill>
                <a:latin typeface="Arial" pitchFamily="34" charset="0"/>
                <a:ea typeface="Arial" pitchFamily="34" charset="-122"/>
                <a:cs typeface="Arial" pitchFamily="34" charset="-120"/>
              </a:rPr>
              <a:t>CHEAP  ·  FAST</a:t>
            </a:r>
            <a:endParaRPr lang="en-US" sz="950" dirty="0"/>
          </a:p>
        </p:txBody>
      </p:sp>
      <p:sp>
        <p:nvSpPr>
          <p:cNvPr id="6" name="Text 4"/>
          <p:cNvSpPr/>
          <p:nvPr/>
        </p:nvSpPr>
        <p:spPr>
          <a:xfrm>
            <a:off x="5943600" y="1627632"/>
            <a:ext cx="2743200" cy="219456"/>
          </a:xfrm>
          <a:prstGeom prst="rect">
            <a:avLst/>
          </a:prstGeom>
          <a:noFill/>
          <a:ln/>
        </p:spPr>
        <p:txBody>
          <a:bodyPr wrap="square" lIns="0" tIns="0" rIns="0" bIns="0" rtlCol="0" anchor="ctr"/>
          <a:lstStyle/>
          <a:p>
            <a:pPr marL="0" indent="0" algn="r">
              <a:buNone/>
            </a:pPr>
            <a:r>
              <a:rPr lang="en-US" sz="950" b="1" kern="0" spc="150" dirty="0">
                <a:solidFill>
                  <a:srgbClr val="FF3B00"/>
                </a:solidFill>
                <a:latin typeface="Arial" pitchFamily="34" charset="0"/>
                <a:ea typeface="Arial" pitchFamily="34" charset="-122"/>
                <a:cs typeface="Arial" pitchFamily="34" charset="-120"/>
              </a:rPr>
              <a:t>SLOW  ·  EXPENSIVE</a:t>
            </a:r>
            <a:endParaRPr lang="en-US" sz="950" dirty="0"/>
          </a:p>
        </p:txBody>
      </p:sp>
      <p:sp>
        <p:nvSpPr>
          <p:cNvPr id="7" name="Shape 5"/>
          <p:cNvSpPr/>
          <p:nvPr/>
        </p:nvSpPr>
        <p:spPr>
          <a:xfrm>
            <a:off x="457200" y="3108960"/>
            <a:ext cx="1554480" cy="777240"/>
          </a:xfrm>
          <a:prstGeom prst="roundRect">
            <a:avLst>
              <a:gd name="adj" fmla="val 9412"/>
            </a:avLst>
          </a:prstGeom>
          <a:solidFill>
            <a:srgbClr val="0A0A0A"/>
          </a:solidFill>
          <a:ln/>
        </p:spPr>
        <p:txBody>
          <a:bodyPr/>
          <a:lstStyle/>
          <a:p>
            <a:endParaRPr lang="en-EG"/>
          </a:p>
        </p:txBody>
      </p:sp>
      <p:sp>
        <p:nvSpPr>
          <p:cNvPr id="8" name="Text 6"/>
          <p:cNvSpPr/>
          <p:nvPr/>
        </p:nvSpPr>
        <p:spPr>
          <a:xfrm>
            <a:off x="603504" y="3218688"/>
            <a:ext cx="1261872" cy="182880"/>
          </a:xfrm>
          <a:prstGeom prst="rect">
            <a:avLst/>
          </a:prstGeom>
          <a:noFill/>
          <a:ln/>
        </p:spPr>
        <p:txBody>
          <a:bodyPr wrap="square" lIns="0" tIns="0" rIns="0" bIns="0" rtlCol="0" anchor="ctr"/>
          <a:lstStyle/>
          <a:p>
            <a:pPr marL="0" indent="0">
              <a:buNone/>
            </a:pPr>
            <a:r>
              <a:rPr lang="en-US" sz="900" b="1" dirty="0">
                <a:solidFill>
                  <a:srgbClr val="9A9A9A"/>
                </a:solidFill>
                <a:latin typeface="Arial" pitchFamily="34" charset="0"/>
                <a:ea typeface="Arial" pitchFamily="34" charset="-122"/>
                <a:cs typeface="Arial" pitchFamily="34" charset="-120"/>
              </a:rPr>
              <a:t>01</a:t>
            </a:r>
            <a:endParaRPr lang="en-US" sz="900" dirty="0"/>
          </a:p>
        </p:txBody>
      </p:sp>
      <p:sp>
        <p:nvSpPr>
          <p:cNvPr id="9" name="Text 7"/>
          <p:cNvSpPr/>
          <p:nvPr/>
        </p:nvSpPr>
        <p:spPr>
          <a:xfrm>
            <a:off x="603504" y="3410712"/>
            <a:ext cx="1261872" cy="420624"/>
          </a:xfrm>
          <a:prstGeom prst="rect">
            <a:avLst/>
          </a:prstGeom>
          <a:noFill/>
          <a:ln/>
        </p:spPr>
        <p:txBody>
          <a:bodyPr wrap="square" lIns="0" tIns="0" rIns="0" bIns="0" rtlCol="0" anchor="t"/>
          <a:lstStyle/>
          <a:p>
            <a:pPr marL="0" indent="0">
              <a:buNone/>
            </a:pPr>
            <a:r>
              <a:rPr lang="en-US" sz="1150" b="1" dirty="0">
                <a:solidFill>
                  <a:srgbClr val="FFFFFF"/>
                </a:solidFill>
                <a:latin typeface="Arial" pitchFamily="34" charset="0"/>
                <a:ea typeface="Arial" pitchFamily="34" charset="-122"/>
                <a:cs typeface="Arial" pitchFamily="34" charset="-120"/>
              </a:rPr>
              <a:t>UPSCALE</a:t>
            </a:r>
            <a:endParaRPr lang="en-US" sz="1150" dirty="0"/>
          </a:p>
        </p:txBody>
      </p:sp>
      <p:sp>
        <p:nvSpPr>
          <p:cNvPr id="10" name="Text 8"/>
          <p:cNvSpPr/>
          <p:nvPr/>
        </p:nvSpPr>
        <p:spPr>
          <a:xfrm>
            <a:off x="457200" y="4005072"/>
            <a:ext cx="1645920" cy="457200"/>
          </a:xfrm>
          <a:prstGeom prst="rect">
            <a:avLst/>
          </a:prstGeom>
          <a:noFill/>
          <a:ln/>
        </p:spPr>
        <p:txBody>
          <a:bodyPr wrap="square" lIns="0" tIns="0" rIns="0" bIns="0" rtlCol="0" anchor="t"/>
          <a:lstStyle/>
          <a:p>
            <a:pPr marL="0" indent="0">
              <a:lnSpc>
                <a:spcPts val="1200"/>
              </a:lnSpc>
              <a:buNone/>
            </a:pPr>
            <a:r>
              <a:rPr lang="en-US" sz="1000" dirty="0">
                <a:solidFill>
                  <a:srgbClr val="3A3A3A"/>
                </a:solidFill>
                <a:latin typeface="Arial" pitchFamily="34" charset="0"/>
                <a:ea typeface="Arial" pitchFamily="34" charset="-122"/>
                <a:cs typeface="Arial" pitchFamily="34" charset="-120"/>
              </a:rPr>
              <a:t>It looks right,</a:t>
            </a:r>
            <a:endParaRPr lang="en-US" sz="1000" dirty="0"/>
          </a:p>
          <a:p>
            <a:pPr marL="0" indent="0">
              <a:lnSpc>
                <a:spcPts val="1200"/>
              </a:lnSpc>
              <a:buNone/>
            </a:pPr>
            <a:r>
              <a:rPr lang="en-US" sz="1000" dirty="0">
                <a:solidFill>
                  <a:srgbClr val="3A3A3A"/>
                </a:solidFill>
                <a:latin typeface="Arial" pitchFamily="34" charset="0"/>
                <a:ea typeface="Arial" pitchFamily="34" charset="-122"/>
                <a:cs typeface="Arial" pitchFamily="34" charset="-120"/>
              </a:rPr>
              <a:t>it is just soft.</a:t>
            </a:r>
            <a:endParaRPr lang="en-US" sz="1000" dirty="0"/>
          </a:p>
        </p:txBody>
      </p:sp>
      <p:sp>
        <p:nvSpPr>
          <p:cNvPr id="11" name="Shape 9"/>
          <p:cNvSpPr/>
          <p:nvPr/>
        </p:nvSpPr>
        <p:spPr>
          <a:xfrm>
            <a:off x="2121408" y="2852928"/>
            <a:ext cx="1554480" cy="1033272"/>
          </a:xfrm>
          <a:prstGeom prst="roundRect">
            <a:avLst>
              <a:gd name="adj" fmla="val 7080"/>
            </a:avLst>
          </a:prstGeom>
          <a:solidFill>
            <a:srgbClr val="0A0A0A"/>
          </a:solidFill>
          <a:ln/>
        </p:spPr>
        <p:txBody>
          <a:bodyPr/>
          <a:lstStyle/>
          <a:p>
            <a:endParaRPr lang="en-EG"/>
          </a:p>
        </p:txBody>
      </p:sp>
      <p:sp>
        <p:nvSpPr>
          <p:cNvPr id="12" name="Text 10"/>
          <p:cNvSpPr/>
          <p:nvPr/>
        </p:nvSpPr>
        <p:spPr>
          <a:xfrm>
            <a:off x="2267712" y="3218688"/>
            <a:ext cx="1261872" cy="182880"/>
          </a:xfrm>
          <a:prstGeom prst="rect">
            <a:avLst/>
          </a:prstGeom>
          <a:noFill/>
          <a:ln/>
        </p:spPr>
        <p:txBody>
          <a:bodyPr wrap="square" lIns="0" tIns="0" rIns="0" bIns="0" rtlCol="0" anchor="ctr"/>
          <a:lstStyle/>
          <a:p>
            <a:pPr marL="0" indent="0">
              <a:buNone/>
            </a:pPr>
            <a:r>
              <a:rPr lang="en-US" sz="900" b="1" dirty="0">
                <a:solidFill>
                  <a:srgbClr val="9A9A9A"/>
                </a:solidFill>
                <a:latin typeface="Arial" pitchFamily="34" charset="0"/>
                <a:ea typeface="Arial" pitchFamily="34" charset="-122"/>
                <a:cs typeface="Arial" pitchFamily="34" charset="-120"/>
              </a:rPr>
              <a:t>02</a:t>
            </a:r>
            <a:endParaRPr lang="en-US" sz="900" dirty="0"/>
          </a:p>
        </p:txBody>
      </p:sp>
      <p:sp>
        <p:nvSpPr>
          <p:cNvPr id="13" name="Text 11"/>
          <p:cNvSpPr/>
          <p:nvPr/>
        </p:nvSpPr>
        <p:spPr>
          <a:xfrm>
            <a:off x="2267712" y="3410712"/>
            <a:ext cx="1261872" cy="420624"/>
          </a:xfrm>
          <a:prstGeom prst="rect">
            <a:avLst/>
          </a:prstGeom>
          <a:noFill/>
          <a:ln/>
        </p:spPr>
        <p:txBody>
          <a:bodyPr wrap="square" lIns="0" tIns="0" rIns="0" bIns="0" rtlCol="0" anchor="t"/>
          <a:lstStyle/>
          <a:p>
            <a:pPr marL="0" indent="0">
              <a:buNone/>
            </a:pPr>
            <a:r>
              <a:rPr lang="en-US" sz="1150" b="1" dirty="0">
                <a:solidFill>
                  <a:srgbClr val="FFFFFF"/>
                </a:solidFill>
                <a:latin typeface="Arial" pitchFamily="34" charset="0"/>
                <a:ea typeface="Arial" pitchFamily="34" charset="-122"/>
                <a:cs typeface="Arial" pitchFamily="34" charset="-120"/>
              </a:rPr>
              <a:t>INPAINT</a:t>
            </a:r>
            <a:endParaRPr lang="en-US" sz="1150" dirty="0"/>
          </a:p>
        </p:txBody>
      </p:sp>
      <p:sp>
        <p:nvSpPr>
          <p:cNvPr id="14" name="Text 12"/>
          <p:cNvSpPr/>
          <p:nvPr/>
        </p:nvSpPr>
        <p:spPr>
          <a:xfrm>
            <a:off x="2121408" y="4005072"/>
            <a:ext cx="1645920" cy="457200"/>
          </a:xfrm>
          <a:prstGeom prst="rect">
            <a:avLst/>
          </a:prstGeom>
          <a:noFill/>
          <a:ln/>
        </p:spPr>
        <p:txBody>
          <a:bodyPr wrap="square" lIns="0" tIns="0" rIns="0" bIns="0" rtlCol="0" anchor="t"/>
          <a:lstStyle/>
          <a:p>
            <a:pPr marL="0" indent="0">
              <a:lnSpc>
                <a:spcPts val="1200"/>
              </a:lnSpc>
              <a:buNone/>
            </a:pPr>
            <a:r>
              <a:rPr lang="en-US" sz="1000" dirty="0">
                <a:solidFill>
                  <a:srgbClr val="3A3A3A"/>
                </a:solidFill>
                <a:latin typeface="Arial" pitchFamily="34" charset="0"/>
                <a:ea typeface="Arial" pitchFamily="34" charset="-122"/>
                <a:cs typeface="Arial" pitchFamily="34" charset="-120"/>
              </a:rPr>
              <a:t>One small detail</a:t>
            </a:r>
            <a:endParaRPr lang="en-US" sz="1000" dirty="0"/>
          </a:p>
          <a:p>
            <a:pPr marL="0" indent="0">
              <a:lnSpc>
                <a:spcPts val="1200"/>
              </a:lnSpc>
              <a:buNone/>
            </a:pPr>
            <a:r>
              <a:rPr lang="en-US" sz="1000" dirty="0">
                <a:solidFill>
                  <a:srgbClr val="3A3A3A"/>
                </a:solidFill>
                <a:latin typeface="Arial" pitchFamily="34" charset="0"/>
                <a:ea typeface="Arial" pitchFamily="34" charset="-122"/>
                <a:cs typeface="Arial" pitchFamily="34" charset="-120"/>
              </a:rPr>
              <a:t>is broken.</a:t>
            </a:r>
            <a:endParaRPr lang="en-US" sz="1000" dirty="0"/>
          </a:p>
        </p:txBody>
      </p:sp>
      <p:sp>
        <p:nvSpPr>
          <p:cNvPr id="15" name="Shape 13"/>
          <p:cNvSpPr/>
          <p:nvPr/>
        </p:nvSpPr>
        <p:spPr>
          <a:xfrm>
            <a:off x="3785616" y="2596896"/>
            <a:ext cx="1554480" cy="1289304"/>
          </a:xfrm>
          <a:prstGeom prst="roundRect">
            <a:avLst>
              <a:gd name="adj" fmla="val 5674"/>
            </a:avLst>
          </a:prstGeom>
          <a:solidFill>
            <a:srgbClr val="0A0A0A"/>
          </a:solidFill>
          <a:ln/>
        </p:spPr>
        <p:txBody>
          <a:bodyPr/>
          <a:lstStyle/>
          <a:p>
            <a:endParaRPr lang="en-EG"/>
          </a:p>
        </p:txBody>
      </p:sp>
      <p:sp>
        <p:nvSpPr>
          <p:cNvPr id="16" name="Text 14"/>
          <p:cNvSpPr/>
          <p:nvPr/>
        </p:nvSpPr>
        <p:spPr>
          <a:xfrm>
            <a:off x="3931920" y="3218688"/>
            <a:ext cx="1261872" cy="182880"/>
          </a:xfrm>
          <a:prstGeom prst="rect">
            <a:avLst/>
          </a:prstGeom>
          <a:noFill/>
          <a:ln/>
        </p:spPr>
        <p:txBody>
          <a:bodyPr wrap="square" lIns="0" tIns="0" rIns="0" bIns="0" rtlCol="0" anchor="ctr"/>
          <a:lstStyle/>
          <a:p>
            <a:pPr marL="0" indent="0">
              <a:buNone/>
            </a:pPr>
            <a:r>
              <a:rPr lang="en-US" sz="900" b="1" dirty="0">
                <a:solidFill>
                  <a:srgbClr val="9A9A9A"/>
                </a:solidFill>
                <a:latin typeface="Arial" pitchFamily="34" charset="0"/>
                <a:ea typeface="Arial" pitchFamily="34" charset="-122"/>
                <a:cs typeface="Arial" pitchFamily="34" charset="-120"/>
              </a:rPr>
              <a:t>03</a:t>
            </a:r>
            <a:endParaRPr lang="en-US" sz="900" dirty="0"/>
          </a:p>
        </p:txBody>
      </p:sp>
      <p:sp>
        <p:nvSpPr>
          <p:cNvPr id="17" name="Text 15"/>
          <p:cNvSpPr/>
          <p:nvPr/>
        </p:nvSpPr>
        <p:spPr>
          <a:xfrm>
            <a:off x="3931920" y="3410712"/>
            <a:ext cx="1261872" cy="420624"/>
          </a:xfrm>
          <a:prstGeom prst="rect">
            <a:avLst/>
          </a:prstGeom>
          <a:noFill/>
          <a:ln/>
        </p:spPr>
        <p:txBody>
          <a:bodyPr wrap="square" lIns="0" tIns="0" rIns="0" bIns="0" rtlCol="0" anchor="t"/>
          <a:lstStyle/>
          <a:p>
            <a:pPr marL="0" indent="0">
              <a:buNone/>
            </a:pPr>
            <a:r>
              <a:rPr lang="en-US" sz="1150" b="1" dirty="0">
                <a:solidFill>
                  <a:srgbClr val="FFFFFF"/>
                </a:solidFill>
                <a:latin typeface="Arial" pitchFamily="34" charset="0"/>
                <a:ea typeface="Arial" pitchFamily="34" charset="-122"/>
                <a:cs typeface="Arial" pitchFamily="34" charset="-120"/>
              </a:rPr>
              <a:t>OUTPAINT</a:t>
            </a:r>
            <a:endParaRPr lang="en-US" sz="1150" dirty="0"/>
          </a:p>
        </p:txBody>
      </p:sp>
      <p:sp>
        <p:nvSpPr>
          <p:cNvPr id="18" name="Text 16"/>
          <p:cNvSpPr/>
          <p:nvPr/>
        </p:nvSpPr>
        <p:spPr>
          <a:xfrm>
            <a:off x="3785616" y="4005072"/>
            <a:ext cx="1645920" cy="457200"/>
          </a:xfrm>
          <a:prstGeom prst="rect">
            <a:avLst/>
          </a:prstGeom>
          <a:noFill/>
          <a:ln/>
        </p:spPr>
        <p:txBody>
          <a:bodyPr wrap="square" lIns="0" tIns="0" rIns="0" bIns="0" rtlCol="0" anchor="t"/>
          <a:lstStyle/>
          <a:p>
            <a:pPr marL="0" indent="0">
              <a:lnSpc>
                <a:spcPts val="1200"/>
              </a:lnSpc>
              <a:buNone/>
            </a:pPr>
            <a:r>
              <a:rPr lang="en-US" sz="1000" dirty="0">
                <a:solidFill>
                  <a:srgbClr val="3A3A3A"/>
                </a:solidFill>
                <a:latin typeface="Arial" pitchFamily="34" charset="0"/>
                <a:ea typeface="Arial" pitchFamily="34" charset="-122"/>
                <a:cs typeface="Arial" pitchFamily="34" charset="-120"/>
              </a:rPr>
              <a:t>The frame</a:t>
            </a:r>
            <a:endParaRPr lang="en-US" sz="1000" dirty="0"/>
          </a:p>
          <a:p>
            <a:pPr marL="0" indent="0">
              <a:lnSpc>
                <a:spcPts val="1200"/>
              </a:lnSpc>
              <a:buNone/>
            </a:pPr>
            <a:r>
              <a:rPr lang="en-US" sz="1000" dirty="0">
                <a:solidFill>
                  <a:srgbClr val="3A3A3A"/>
                </a:solidFill>
                <a:latin typeface="Arial" pitchFamily="34" charset="0"/>
                <a:ea typeface="Arial" pitchFamily="34" charset="-122"/>
                <a:cs typeface="Arial" pitchFamily="34" charset="-120"/>
              </a:rPr>
              <a:t>is too tight.</a:t>
            </a:r>
            <a:endParaRPr lang="en-US" sz="1000" dirty="0"/>
          </a:p>
        </p:txBody>
      </p:sp>
      <p:sp>
        <p:nvSpPr>
          <p:cNvPr id="19" name="Shape 17"/>
          <p:cNvSpPr/>
          <p:nvPr/>
        </p:nvSpPr>
        <p:spPr>
          <a:xfrm>
            <a:off x="5449824" y="2340864"/>
            <a:ext cx="1554480" cy="1545336"/>
          </a:xfrm>
          <a:prstGeom prst="roundRect">
            <a:avLst>
              <a:gd name="adj" fmla="val 4734"/>
            </a:avLst>
          </a:prstGeom>
          <a:solidFill>
            <a:srgbClr val="0A0A0A"/>
          </a:solidFill>
          <a:ln/>
        </p:spPr>
        <p:txBody>
          <a:bodyPr/>
          <a:lstStyle/>
          <a:p>
            <a:endParaRPr lang="en-EG"/>
          </a:p>
        </p:txBody>
      </p:sp>
      <p:sp>
        <p:nvSpPr>
          <p:cNvPr id="20" name="Text 18"/>
          <p:cNvSpPr/>
          <p:nvPr/>
        </p:nvSpPr>
        <p:spPr>
          <a:xfrm>
            <a:off x="5596128" y="3218688"/>
            <a:ext cx="1261872" cy="182880"/>
          </a:xfrm>
          <a:prstGeom prst="rect">
            <a:avLst/>
          </a:prstGeom>
          <a:noFill/>
          <a:ln/>
        </p:spPr>
        <p:txBody>
          <a:bodyPr wrap="square" lIns="0" tIns="0" rIns="0" bIns="0" rtlCol="0" anchor="ctr"/>
          <a:lstStyle/>
          <a:p>
            <a:pPr marL="0" indent="0">
              <a:buNone/>
            </a:pPr>
            <a:r>
              <a:rPr lang="en-US" sz="900" b="1" dirty="0">
                <a:solidFill>
                  <a:srgbClr val="9A9A9A"/>
                </a:solidFill>
                <a:latin typeface="Arial" pitchFamily="34" charset="0"/>
                <a:ea typeface="Arial" pitchFamily="34" charset="-122"/>
                <a:cs typeface="Arial" pitchFamily="34" charset="-120"/>
              </a:rPr>
              <a:t>04</a:t>
            </a:r>
            <a:endParaRPr lang="en-US" sz="900" dirty="0"/>
          </a:p>
        </p:txBody>
      </p:sp>
      <p:sp>
        <p:nvSpPr>
          <p:cNvPr id="21" name="Text 19"/>
          <p:cNvSpPr/>
          <p:nvPr/>
        </p:nvSpPr>
        <p:spPr>
          <a:xfrm>
            <a:off x="5596128" y="3410712"/>
            <a:ext cx="1261872" cy="420624"/>
          </a:xfrm>
          <a:prstGeom prst="rect">
            <a:avLst/>
          </a:prstGeom>
          <a:noFill/>
          <a:ln/>
        </p:spPr>
        <p:txBody>
          <a:bodyPr wrap="square" lIns="0" tIns="0" rIns="0" bIns="0" rtlCol="0" anchor="t"/>
          <a:lstStyle/>
          <a:p>
            <a:pPr marL="0" indent="0">
              <a:buNone/>
            </a:pPr>
            <a:r>
              <a:rPr lang="en-US" sz="1150" b="1" dirty="0">
                <a:solidFill>
                  <a:srgbClr val="FFFFFF"/>
                </a:solidFill>
                <a:latin typeface="Arial" pitchFamily="34" charset="0"/>
                <a:ea typeface="Arial" pitchFamily="34" charset="-122"/>
                <a:cs typeface="Arial" pitchFamily="34" charset="-120"/>
              </a:rPr>
              <a:t>NEW REFERENCE</a:t>
            </a:r>
            <a:endParaRPr lang="en-US" sz="1150" dirty="0"/>
          </a:p>
        </p:txBody>
      </p:sp>
      <p:sp>
        <p:nvSpPr>
          <p:cNvPr id="22" name="Text 20"/>
          <p:cNvSpPr/>
          <p:nvPr/>
        </p:nvSpPr>
        <p:spPr>
          <a:xfrm>
            <a:off x="5449824" y="4005072"/>
            <a:ext cx="1645920" cy="457200"/>
          </a:xfrm>
          <a:prstGeom prst="rect">
            <a:avLst/>
          </a:prstGeom>
          <a:noFill/>
          <a:ln/>
        </p:spPr>
        <p:txBody>
          <a:bodyPr wrap="square" lIns="0" tIns="0" rIns="0" bIns="0" rtlCol="0" anchor="t"/>
          <a:lstStyle/>
          <a:p>
            <a:pPr marL="0" indent="0">
              <a:lnSpc>
                <a:spcPts val="1200"/>
              </a:lnSpc>
              <a:buNone/>
            </a:pPr>
            <a:r>
              <a:rPr lang="en-US" sz="1000" dirty="0">
                <a:solidFill>
                  <a:srgbClr val="3A3A3A"/>
                </a:solidFill>
                <a:latin typeface="Arial" pitchFamily="34" charset="0"/>
                <a:ea typeface="Arial" pitchFamily="34" charset="-122"/>
                <a:cs typeface="Arial" pitchFamily="34" charset="-120"/>
              </a:rPr>
              <a:t>The face or the</a:t>
            </a:r>
            <a:endParaRPr lang="en-US" sz="1000" dirty="0"/>
          </a:p>
          <a:p>
            <a:pPr marL="0" indent="0">
              <a:lnSpc>
                <a:spcPts val="1200"/>
              </a:lnSpc>
              <a:buNone/>
            </a:pPr>
            <a:r>
              <a:rPr lang="en-US" sz="1000" dirty="0">
                <a:solidFill>
                  <a:srgbClr val="3A3A3A"/>
                </a:solidFill>
                <a:latin typeface="Arial" pitchFamily="34" charset="0"/>
                <a:ea typeface="Arial" pitchFamily="34" charset="-122"/>
                <a:cs typeface="Arial" pitchFamily="34" charset="-120"/>
              </a:rPr>
              <a:t>product changed.</a:t>
            </a:r>
            <a:endParaRPr lang="en-US" sz="1000" dirty="0"/>
          </a:p>
        </p:txBody>
      </p:sp>
      <p:sp>
        <p:nvSpPr>
          <p:cNvPr id="23" name="Shape 21"/>
          <p:cNvSpPr/>
          <p:nvPr/>
        </p:nvSpPr>
        <p:spPr>
          <a:xfrm>
            <a:off x="7114032" y="2084832"/>
            <a:ext cx="1554480" cy="1801368"/>
          </a:xfrm>
          <a:prstGeom prst="roundRect">
            <a:avLst>
              <a:gd name="adj" fmla="val 4706"/>
            </a:avLst>
          </a:prstGeom>
          <a:solidFill>
            <a:srgbClr val="FF3B00"/>
          </a:solidFill>
          <a:ln/>
        </p:spPr>
        <p:txBody>
          <a:bodyPr/>
          <a:lstStyle/>
          <a:p>
            <a:endParaRPr lang="en-EG"/>
          </a:p>
        </p:txBody>
      </p:sp>
      <p:sp>
        <p:nvSpPr>
          <p:cNvPr id="24" name="Text 22"/>
          <p:cNvSpPr/>
          <p:nvPr/>
        </p:nvSpPr>
        <p:spPr>
          <a:xfrm>
            <a:off x="7260336" y="3218688"/>
            <a:ext cx="1261872" cy="18288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25" name="Text 23"/>
          <p:cNvSpPr/>
          <p:nvPr/>
        </p:nvSpPr>
        <p:spPr>
          <a:xfrm>
            <a:off x="7260336" y="3410712"/>
            <a:ext cx="1261872" cy="420624"/>
          </a:xfrm>
          <a:prstGeom prst="rect">
            <a:avLst/>
          </a:prstGeom>
          <a:noFill/>
          <a:ln/>
        </p:spPr>
        <p:txBody>
          <a:bodyPr wrap="square" lIns="0" tIns="0" rIns="0" bIns="0" rtlCol="0" anchor="t"/>
          <a:lstStyle/>
          <a:p>
            <a:pPr marL="0" indent="0">
              <a:buNone/>
            </a:pPr>
            <a:r>
              <a:rPr lang="en-US" sz="1150" b="1" dirty="0">
                <a:solidFill>
                  <a:srgbClr val="FFFFFF"/>
                </a:solidFill>
                <a:latin typeface="Arial" pitchFamily="34" charset="0"/>
                <a:ea typeface="Arial" pitchFamily="34" charset="-122"/>
                <a:cs typeface="Arial" pitchFamily="34" charset="-120"/>
              </a:rPr>
              <a:t>REGENERATE</a:t>
            </a:r>
            <a:endParaRPr lang="en-US" sz="1150" dirty="0"/>
          </a:p>
        </p:txBody>
      </p:sp>
      <p:sp>
        <p:nvSpPr>
          <p:cNvPr id="26" name="Text 24"/>
          <p:cNvSpPr/>
          <p:nvPr/>
        </p:nvSpPr>
        <p:spPr>
          <a:xfrm>
            <a:off x="7114032" y="4005072"/>
            <a:ext cx="1645920" cy="457200"/>
          </a:xfrm>
          <a:prstGeom prst="rect">
            <a:avLst/>
          </a:prstGeom>
          <a:noFill/>
          <a:ln/>
        </p:spPr>
        <p:txBody>
          <a:bodyPr wrap="square" lIns="0" tIns="0" rIns="0" bIns="0" rtlCol="0" anchor="t"/>
          <a:lstStyle/>
          <a:p>
            <a:pPr marL="0" indent="0">
              <a:lnSpc>
                <a:spcPts val="1200"/>
              </a:lnSpc>
              <a:buNone/>
            </a:pPr>
            <a:r>
              <a:rPr lang="en-US" sz="1000" dirty="0">
                <a:solidFill>
                  <a:srgbClr val="3A3A3A"/>
                </a:solidFill>
                <a:latin typeface="Arial" pitchFamily="34" charset="0"/>
                <a:ea typeface="Arial" pitchFamily="34" charset="-122"/>
                <a:cs typeface="Arial" pitchFamily="34" charset="-120"/>
              </a:rPr>
              <a:t>Nothing about it</a:t>
            </a:r>
            <a:endParaRPr lang="en-US" sz="1000" dirty="0"/>
          </a:p>
          <a:p>
            <a:pPr marL="0" indent="0">
              <a:lnSpc>
                <a:spcPts val="1200"/>
              </a:lnSpc>
              <a:buNone/>
            </a:pPr>
            <a:r>
              <a:rPr lang="en-US" sz="1000" dirty="0">
                <a:solidFill>
                  <a:srgbClr val="3A3A3A"/>
                </a:solidFill>
                <a:latin typeface="Arial" pitchFamily="34" charset="0"/>
                <a:ea typeface="Arial" pitchFamily="34" charset="-122"/>
                <a:cs typeface="Arial" pitchFamily="34" charset="-120"/>
              </a:rPr>
              <a:t>works.</a:t>
            </a:r>
            <a:endParaRPr lang="en-US" sz="1000" dirty="0"/>
          </a:p>
        </p:txBody>
      </p:sp>
      <p:sp>
        <p:nvSpPr>
          <p:cNvPr id="27" name="Text 25"/>
          <p:cNvSpPr/>
          <p:nvPr/>
        </p:nvSpPr>
        <p:spPr>
          <a:xfrm>
            <a:off x="457200" y="4590288"/>
            <a:ext cx="8229600" cy="365760"/>
          </a:xfrm>
          <a:prstGeom prst="rect">
            <a:avLst/>
          </a:prstGeom>
          <a:noFill/>
          <a:ln/>
        </p:spPr>
        <p:txBody>
          <a:bodyPr wrap="square" lIns="0" tIns="0" rIns="0" bIns="0" rtlCol="0" anchor="t"/>
          <a:lstStyle/>
          <a:p>
            <a:pPr marL="0" indent="0">
              <a:buNone/>
            </a:pPr>
            <a:r>
              <a:rPr lang="en-US" sz="1200" b="1" i="1" dirty="0">
                <a:solidFill>
                  <a:srgbClr val="0A0A0A"/>
                </a:solidFill>
                <a:latin typeface="Arial" pitchFamily="34" charset="0"/>
                <a:ea typeface="Arial" pitchFamily="34" charset="-122"/>
                <a:cs typeface="Arial" pitchFamily="34" charset="-120"/>
              </a:rPr>
              <a:t>Step 05 is where most students start. It is the one that costs the most.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ASSET DISCIPLINE</a:t>
            </a:r>
            <a:endParaRPr lang="en-US" sz="3000" dirty="0"/>
          </a:p>
        </p:txBody>
      </p:sp>
      <p:sp>
        <p:nvSpPr>
          <p:cNvPr id="4" name="Shape 2"/>
          <p:cNvSpPr/>
          <p:nvPr/>
        </p:nvSpPr>
        <p:spPr>
          <a:xfrm>
            <a:off x="457200" y="1298448"/>
            <a:ext cx="8229600" cy="713232"/>
          </a:xfrm>
          <a:prstGeom prst="roundRect">
            <a:avLst>
              <a:gd name="adj" fmla="val 10256"/>
            </a:avLst>
          </a:prstGeom>
          <a:solidFill>
            <a:srgbClr val="0A0A0A"/>
          </a:solidFill>
          <a:ln/>
        </p:spPr>
        <p:txBody>
          <a:bodyPr/>
          <a:lstStyle/>
          <a:p>
            <a:endParaRPr lang="en-EG"/>
          </a:p>
        </p:txBody>
      </p:sp>
      <p:sp>
        <p:nvSpPr>
          <p:cNvPr id="5" name="Text 3"/>
          <p:cNvSpPr/>
          <p:nvPr/>
        </p:nvSpPr>
        <p:spPr>
          <a:xfrm>
            <a:off x="731520" y="1298448"/>
            <a:ext cx="4937760" cy="713232"/>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PROJ_SC01_SH03_KF-A_v02.png</a:t>
            </a:r>
            <a:endParaRPr lang="en-US" sz="1700" dirty="0"/>
          </a:p>
        </p:txBody>
      </p:sp>
      <p:sp>
        <p:nvSpPr>
          <p:cNvPr id="6" name="Text 4"/>
          <p:cNvSpPr/>
          <p:nvPr/>
        </p:nvSpPr>
        <p:spPr>
          <a:xfrm>
            <a:off x="5486400" y="1298448"/>
            <a:ext cx="3200400" cy="713232"/>
          </a:xfrm>
          <a:prstGeom prst="rect">
            <a:avLst/>
          </a:prstGeom>
          <a:noFill/>
          <a:ln/>
        </p:spPr>
        <p:txBody>
          <a:bodyPr wrap="square" lIns="0" tIns="0" rIns="0" bIns="0" rtlCol="0" anchor="ctr"/>
          <a:lstStyle/>
          <a:p>
            <a:pPr marL="0" indent="0">
              <a:buNone/>
            </a:pPr>
            <a:r>
              <a:rPr lang="en-US" sz="1000" dirty="0">
                <a:solidFill>
                  <a:srgbClr val="8C8C8C"/>
                </a:solidFill>
                <a:latin typeface="Arial" pitchFamily="34" charset="0"/>
                <a:ea typeface="Arial" pitchFamily="34" charset="-122"/>
                <a:cs typeface="Arial" pitchFamily="34" charset="-120"/>
              </a:rPr>
              <a:t>Project · Scene · Shot · Keyframe (A/B/C) · Version</a:t>
            </a:r>
            <a:endParaRPr lang="en-US" sz="1000" dirty="0"/>
          </a:p>
        </p:txBody>
      </p:sp>
      <p:sp>
        <p:nvSpPr>
          <p:cNvPr id="7" name="Shape 5"/>
          <p:cNvSpPr/>
          <p:nvPr/>
        </p:nvSpPr>
        <p:spPr>
          <a:xfrm>
            <a:off x="457200" y="2194560"/>
            <a:ext cx="4023360" cy="1371600"/>
          </a:xfrm>
          <a:prstGeom prst="roundRect">
            <a:avLst>
              <a:gd name="adj" fmla="val 4000"/>
            </a:avLst>
          </a:prstGeom>
          <a:solidFill>
            <a:srgbClr val="F6F6F6"/>
          </a:solidFill>
          <a:ln/>
        </p:spPr>
        <p:txBody>
          <a:bodyPr/>
          <a:lstStyle/>
          <a:p>
            <a:endParaRPr lang="en-EG"/>
          </a:p>
        </p:txBody>
      </p:sp>
      <p:sp>
        <p:nvSpPr>
          <p:cNvPr id="8" name="Text 6"/>
          <p:cNvSpPr/>
          <p:nvPr/>
        </p:nvSpPr>
        <p:spPr>
          <a:xfrm>
            <a:off x="621792" y="2322576"/>
            <a:ext cx="3694176" cy="237744"/>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FOLDER STRUCTURE</a:t>
            </a:r>
            <a:endParaRPr lang="en-US" sz="1200" dirty="0"/>
          </a:p>
        </p:txBody>
      </p:sp>
      <p:sp>
        <p:nvSpPr>
          <p:cNvPr id="9" name="Text 7"/>
          <p:cNvSpPr/>
          <p:nvPr/>
        </p:nvSpPr>
        <p:spPr>
          <a:xfrm>
            <a:off x="621792" y="2578608"/>
            <a:ext cx="3694176" cy="859536"/>
          </a:xfrm>
          <a:prstGeom prst="rect">
            <a:avLst/>
          </a:prstGeom>
          <a:noFill/>
          <a:ln/>
        </p:spPr>
        <p:txBody>
          <a:bodyPr wrap="square" lIns="0" tIns="0" rIns="0" bIns="0" rtlCol="0" anchor="t"/>
          <a:lstStyle/>
          <a:p>
            <a:pPr marL="0" indent="0">
              <a:lnSpc>
                <a:spcPts val="1300"/>
              </a:lnSpc>
              <a:buNone/>
            </a:pPr>
            <a:r>
              <a:rPr lang="en-US" sz="1000" dirty="0">
                <a:solidFill>
                  <a:srgbClr val="3A3A3A"/>
                </a:solidFill>
                <a:latin typeface="Arial" pitchFamily="34" charset="0"/>
                <a:ea typeface="Arial" pitchFamily="34" charset="-122"/>
                <a:cs typeface="Arial" pitchFamily="34" charset="-120"/>
              </a:rPr>
              <a:t>/01_brief    /02_board    /03_refs</a:t>
            </a:r>
            <a:endParaRPr lang="en-US" sz="1000" dirty="0"/>
          </a:p>
          <a:p>
            <a:pPr marL="0" indent="0">
              <a:lnSpc>
                <a:spcPts val="1300"/>
              </a:lnSpc>
              <a:buNone/>
            </a:pPr>
            <a:r>
              <a:rPr lang="en-US" sz="1000" dirty="0">
                <a:solidFill>
                  <a:srgbClr val="3A3A3A"/>
                </a:solidFill>
                <a:latin typeface="Arial" pitchFamily="34" charset="0"/>
                <a:ea typeface="Arial" pitchFamily="34" charset="-122"/>
                <a:cs typeface="Arial" pitchFamily="34" charset="-120"/>
              </a:rPr>
              <a:t>/04_keyframes    /05_clips</a:t>
            </a:r>
            <a:endParaRPr lang="en-US" sz="1000" dirty="0"/>
          </a:p>
          <a:p>
            <a:pPr marL="0" indent="0">
              <a:lnSpc>
                <a:spcPts val="1300"/>
              </a:lnSpc>
              <a:buNone/>
            </a:pPr>
            <a:r>
              <a:rPr lang="en-US" sz="1000" dirty="0">
                <a:solidFill>
                  <a:srgbClr val="3A3A3A"/>
                </a:solidFill>
                <a:latin typeface="Arial" pitchFamily="34" charset="0"/>
                <a:ea typeface="Arial" pitchFamily="34" charset="-122"/>
                <a:cs typeface="Arial" pitchFamily="34" charset="-120"/>
              </a:rPr>
              <a:t>/06_audio    /07_edit    /08_masters</a:t>
            </a:r>
            <a:endParaRPr lang="en-US" sz="1000" dirty="0"/>
          </a:p>
        </p:txBody>
      </p:sp>
      <p:sp>
        <p:nvSpPr>
          <p:cNvPr id="10" name="Shape 8"/>
          <p:cNvSpPr/>
          <p:nvPr/>
        </p:nvSpPr>
        <p:spPr>
          <a:xfrm>
            <a:off x="4663440" y="2194560"/>
            <a:ext cx="4023360" cy="1371600"/>
          </a:xfrm>
          <a:prstGeom prst="roundRect">
            <a:avLst>
              <a:gd name="adj" fmla="val 4000"/>
            </a:avLst>
          </a:prstGeom>
          <a:solidFill>
            <a:srgbClr val="F6F6F6"/>
          </a:solidFill>
          <a:ln/>
        </p:spPr>
        <p:txBody>
          <a:bodyPr/>
          <a:lstStyle/>
          <a:p>
            <a:endParaRPr lang="en-EG"/>
          </a:p>
        </p:txBody>
      </p:sp>
      <p:sp>
        <p:nvSpPr>
          <p:cNvPr id="11" name="Text 9"/>
          <p:cNvSpPr/>
          <p:nvPr/>
        </p:nvSpPr>
        <p:spPr>
          <a:xfrm>
            <a:off x="4828032" y="2322576"/>
            <a:ext cx="3694176" cy="237744"/>
          </a:xfrm>
          <a:prstGeom prst="rect">
            <a:avLst/>
          </a:prstGeom>
          <a:noFill/>
          <a:ln/>
        </p:spPr>
        <p:txBody>
          <a:bodyPr wrap="square" lIns="0" tIns="0" rIns="0" bIns="0" rtlCol="0" anchor="ctr"/>
          <a:lstStyle/>
          <a:p>
            <a:pPr marL="0" indent="0">
              <a:buNone/>
            </a:pPr>
            <a:r>
              <a:rPr lang="en-US" sz="1200" b="1" dirty="0">
                <a:solidFill>
                  <a:srgbClr val="0A0A0A"/>
                </a:solidFill>
                <a:latin typeface="Arial" pitchFamily="34" charset="0"/>
                <a:ea typeface="Arial" pitchFamily="34" charset="-122"/>
                <a:cs typeface="Arial" pitchFamily="34" charset="-120"/>
              </a:rPr>
              <a:t>PROMPT LOG</a:t>
            </a:r>
            <a:endParaRPr lang="en-US" sz="1200" dirty="0"/>
          </a:p>
        </p:txBody>
      </p:sp>
      <p:sp>
        <p:nvSpPr>
          <p:cNvPr id="12" name="Text 10"/>
          <p:cNvSpPr/>
          <p:nvPr/>
        </p:nvSpPr>
        <p:spPr>
          <a:xfrm>
            <a:off x="4828032" y="2578608"/>
            <a:ext cx="3694176" cy="859536"/>
          </a:xfrm>
          <a:prstGeom prst="rect">
            <a:avLst/>
          </a:prstGeom>
          <a:noFill/>
          <a:ln/>
        </p:spPr>
        <p:txBody>
          <a:bodyPr wrap="square" lIns="0" tIns="0" rIns="0" bIns="0" rtlCol="0" anchor="t"/>
          <a:lstStyle/>
          <a:p>
            <a:pPr marL="0" indent="0">
              <a:lnSpc>
                <a:spcPts val="1300"/>
              </a:lnSpc>
              <a:buNone/>
            </a:pPr>
            <a:r>
              <a:rPr lang="en-US" sz="1000" dirty="0">
                <a:solidFill>
                  <a:srgbClr val="3A3A3A"/>
                </a:solidFill>
                <a:latin typeface="Arial" pitchFamily="34" charset="0"/>
                <a:ea typeface="Arial" pitchFamily="34" charset="-122"/>
                <a:cs typeface="Arial" pitchFamily="34" charset="-120"/>
              </a:rPr>
              <a:t>For every accepted image, record:</a:t>
            </a:r>
            <a:endParaRPr lang="en-US" sz="1000" dirty="0"/>
          </a:p>
          <a:p>
            <a:pPr marL="0" indent="0">
              <a:lnSpc>
                <a:spcPts val="1300"/>
              </a:lnSpc>
              <a:buNone/>
            </a:pPr>
            <a:r>
              <a:rPr lang="en-US" sz="1000" dirty="0">
                <a:solidFill>
                  <a:srgbClr val="3A3A3A"/>
                </a:solidFill>
                <a:latin typeface="Arial" pitchFamily="34" charset="0"/>
                <a:ea typeface="Arial" pitchFamily="34" charset="-122"/>
                <a:cs typeface="Arial" pitchFamily="34" charset="-120"/>
              </a:rPr>
              <a:t>prompt · seed · model + version · references used · date</a:t>
            </a:r>
            <a:endParaRPr lang="en-US" sz="1000" dirty="0"/>
          </a:p>
        </p:txBody>
      </p:sp>
      <p:sp>
        <p:nvSpPr>
          <p:cNvPr id="13" name="Shape 11"/>
          <p:cNvSpPr/>
          <p:nvPr/>
        </p:nvSpPr>
        <p:spPr>
          <a:xfrm>
            <a:off x="457200" y="3749040"/>
            <a:ext cx="8229600" cy="731520"/>
          </a:xfrm>
          <a:prstGeom prst="roundRect">
            <a:avLst>
              <a:gd name="adj" fmla="val 10000"/>
            </a:avLst>
          </a:prstGeom>
          <a:solidFill>
            <a:srgbClr val="F6F6F6"/>
          </a:solidFill>
          <a:ln/>
        </p:spPr>
        <p:txBody>
          <a:bodyPr/>
          <a:lstStyle/>
          <a:p>
            <a:endParaRPr lang="en-EG"/>
          </a:p>
        </p:txBody>
      </p:sp>
      <p:sp>
        <p:nvSpPr>
          <p:cNvPr id="14" name="Text 12"/>
          <p:cNvSpPr/>
          <p:nvPr/>
        </p:nvSpPr>
        <p:spPr>
          <a:xfrm>
            <a:off x="685800" y="3749040"/>
            <a:ext cx="7772400" cy="731520"/>
          </a:xfrm>
          <a:prstGeom prst="rect">
            <a:avLst/>
          </a:prstGeom>
          <a:noFill/>
          <a:ln/>
        </p:spPr>
        <p:txBody>
          <a:bodyPr wrap="square" lIns="0" tIns="0" rIns="0" bIns="0" rtlCol="0" anchor="ctr"/>
          <a:lstStyle/>
          <a:p>
            <a:pPr marL="0" indent="0">
              <a:buNone/>
            </a:pPr>
            <a:r>
              <a:rPr lang="en-US" sz="1350" b="1" dirty="0">
                <a:solidFill>
                  <a:srgbClr val="0A0A0A"/>
                </a:solidFill>
                <a:latin typeface="Arial" pitchFamily="34" charset="0"/>
                <a:ea typeface="Arial" pitchFamily="34" charset="-122"/>
                <a:cs typeface="Arial" pitchFamily="34" charset="-120"/>
              </a:rPr>
              <a:t>The prompt log is your negative. Lose it and you cannot reproduce your own work — or hand it to a client.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1417320"/>
            <a:ext cx="1828800" cy="1188720"/>
          </a:xfrm>
          <a:prstGeom prst="rect">
            <a:avLst/>
          </a:prstGeom>
          <a:noFill/>
          <a:ln/>
        </p:spPr>
        <p:txBody>
          <a:bodyPr wrap="square" lIns="0" tIns="0" rIns="0" bIns="0" rtlCol="0" anchor="ctr"/>
          <a:lstStyle/>
          <a:p>
            <a:pPr marL="0" indent="0">
              <a:buNone/>
            </a:pPr>
            <a:r>
              <a:rPr lang="en-US" sz="8400" b="1" dirty="0">
                <a:solidFill>
                  <a:srgbClr val="FFFFFF"/>
                </a:solidFill>
                <a:latin typeface="Arial" pitchFamily="34" charset="0"/>
                <a:ea typeface="Arial" pitchFamily="34" charset="-122"/>
                <a:cs typeface="Arial" pitchFamily="34" charset="-120"/>
              </a:rPr>
              <a:t>04</a:t>
            </a:r>
            <a:endParaRPr lang="en-US" sz="8400" dirty="0"/>
          </a:p>
        </p:txBody>
      </p:sp>
      <p:sp>
        <p:nvSpPr>
          <p:cNvPr id="3" name="Text 1"/>
          <p:cNvSpPr/>
          <p:nvPr/>
        </p:nvSpPr>
        <p:spPr>
          <a:xfrm>
            <a:off x="2331720" y="1691640"/>
            <a:ext cx="6355080" cy="6400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MOTION ORCHESTRATION</a:t>
            </a:r>
            <a:endParaRPr lang="en-US" sz="3400" dirty="0"/>
          </a:p>
        </p:txBody>
      </p:sp>
      <p:sp>
        <p:nvSpPr>
          <p:cNvPr id="4" name="Text 2"/>
          <p:cNvSpPr/>
          <p:nvPr/>
        </p:nvSpPr>
        <p:spPr>
          <a:xfrm>
            <a:off x="2359152" y="2395728"/>
            <a:ext cx="6355080" cy="457200"/>
          </a:xfrm>
          <a:prstGeom prst="rect">
            <a:avLst/>
          </a:prstGeom>
          <a:noFill/>
          <a:ln/>
        </p:spPr>
        <p:txBody>
          <a:bodyPr wrap="square" lIns="0" tIns="0" rIns="0" bIns="0" rtlCol="0" anchor="t"/>
          <a:lstStyle/>
          <a:p>
            <a:pPr marL="0" indent="0">
              <a:buNone/>
            </a:pPr>
            <a:r>
              <a:rPr lang="en-US" sz="1200" dirty="0">
                <a:solidFill>
                  <a:srgbClr val="8C8C8C"/>
                </a:solidFill>
                <a:latin typeface="Arial" pitchFamily="34" charset="0"/>
                <a:ea typeface="Arial" pitchFamily="34" charset="-122"/>
                <a:cs typeface="Arial" pitchFamily="34" charset="-120"/>
              </a:rPr>
              <a:t>Turning still frames into shots — with intent, not with luck.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THREE WAYS IN</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1536192"/>
        </p:xfrm>
        <a:graphic>
          <a:graphicData uri="http://schemas.openxmlformats.org/drawingml/2006/table">
            <a:tbl>
              <a:tblPr/>
              <a:tblGrid>
                <a:gridCol w="20116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84048">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METHOD</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STARTS FROM</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STRENGTH</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THE MINDSET</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Text-to-video</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A prompt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Concept generation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The Creator</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Image-to-video</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A still frame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Visual consistency</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The Director</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Video-to-video</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An existing clip</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Style transformation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The Editor</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457200" y="3218688"/>
            <a:ext cx="8229600" cy="777240"/>
          </a:xfrm>
          <a:prstGeom prst="roundRect">
            <a:avLst>
              <a:gd name="adj" fmla="val 9412"/>
            </a:avLst>
          </a:prstGeom>
          <a:solidFill>
            <a:srgbClr val="0A0A0A"/>
          </a:solidFill>
          <a:ln/>
        </p:spPr>
        <p:txBody>
          <a:bodyPr/>
          <a:lstStyle/>
          <a:p>
            <a:endParaRPr lang="en-EG"/>
          </a:p>
        </p:txBody>
      </p:sp>
      <p:sp>
        <p:nvSpPr>
          <p:cNvPr id="6" name="Text 3"/>
          <p:cNvSpPr/>
          <p:nvPr/>
        </p:nvSpPr>
        <p:spPr>
          <a:xfrm>
            <a:off x="685800" y="3218688"/>
            <a:ext cx="7772400" cy="7772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Commercial work is image-to-video. You already approved the frame — do not let the model re-invent it.</a:t>
            </a:r>
            <a:endParaRPr lang="en-US" sz="1350" dirty="0"/>
          </a:p>
        </p:txBody>
      </p:sp>
      <p:sp>
        <p:nvSpPr>
          <p:cNvPr id="7" name="Text 4"/>
          <p:cNvSpPr/>
          <p:nvPr/>
        </p:nvSpPr>
        <p:spPr>
          <a:xfrm>
            <a:off x="457200" y="4178808"/>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Text-to-video belongs in exploration and mood-finding. It does not belong after the board is locked.</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CONTROL LADDER</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2304288"/>
        </p:xfrm>
        <a:graphic>
          <a:graphicData uri="http://schemas.openxmlformats.org/drawingml/2006/table">
            <a:tbl>
              <a:tblPr/>
              <a:tblGrid>
                <a:gridCol w="3383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84048">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WHAT YOU GIVE THE MODEL</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CONTROL</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USE IT WHEN</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Text only</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Weak</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You are still exploring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First frame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Medium</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Simple movement out of one image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First + last frame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Strong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The shot must end on a specific composition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Motion reference video</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Very strong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You need a real camera move copied</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Video-to-video</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Transformative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Restyling or repairing footage you already have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57200" y="3904488"/>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First + last frame is the single most under-used control in student work. It is also how frame chaining is enforced.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CORE CAMERA MOVEMENTS</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2674620"/>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7180">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MOVEMENT</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WHAT IT DOES</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WHEN TO USE IT</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Push-in</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Moves toward the subject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Emotional beats, product detail</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Pull-out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Moves away from the subject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Context, reveal</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Pan</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Pivots horizontally from a fixed position</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Follow movement, scan a space</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Tilt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Pivots vertically from a fixed position</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Reveal scale or importance</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4"/>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Orbit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Circles around the subject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Product depth, premium feel</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5"/>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Tracking</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Moves parallel with a moving subject</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Following a walking character</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6"/>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Handheld</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Slight natural shake</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Lifestyle, realism, social</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7"/>
                  </a:ext>
                </a:extLst>
              </a:tr>
              <a:tr h="297180">
                <a:tc>
                  <a:txBody>
                    <a:bodyPr/>
                    <a:lstStyle/>
                    <a:p>
                      <a:pPr marL="0" indent="0">
                        <a:buNone/>
                      </a:pPr>
                      <a:r>
                        <a:rPr lang="en-US" sz="1000" dirty="0">
                          <a:solidFill>
                            <a:srgbClr val="1F1F1F"/>
                          </a:solidFill>
                          <a:latin typeface="Arial" pitchFamily="34" charset="0"/>
                          <a:ea typeface="Arial" pitchFamily="34" charset="-122"/>
                          <a:cs typeface="Arial" pitchFamily="34" charset="-120"/>
                        </a:rPr>
                        <a:t>Static</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No movement at all</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00" dirty="0">
                          <a:solidFill>
                            <a:srgbClr val="1F1F1F"/>
                          </a:solidFill>
                          <a:latin typeface="Arial" pitchFamily="34" charset="0"/>
                          <a:ea typeface="Arial" pitchFamily="34" charset="-122"/>
                          <a:cs typeface="Arial" pitchFamily="34" charset="-120"/>
                        </a:rPr>
                        <a:t>Calm, clean, premium</a:t>
                      </a:r>
                      <a:endParaRPr lang="en-US" sz="100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MOTION DESIGN RULES</a:t>
            </a:r>
            <a:endParaRPr lang="en-US" sz="3000" dirty="0"/>
          </a:p>
        </p:txBody>
      </p:sp>
      <p:sp>
        <p:nvSpPr>
          <p:cNvPr id="4" name="Shape 2"/>
          <p:cNvSpPr/>
          <p:nvPr/>
        </p:nvSpPr>
        <p:spPr>
          <a:xfrm>
            <a:off x="457200" y="1298448"/>
            <a:ext cx="384048" cy="384048"/>
          </a:xfrm>
          <a:prstGeom prst="roundRect">
            <a:avLst>
              <a:gd name="adj" fmla="val 50000"/>
            </a:avLst>
          </a:prstGeom>
          <a:solidFill>
            <a:srgbClr val="0A0A0A"/>
          </a:solidFill>
          <a:ln/>
        </p:spPr>
        <p:txBody>
          <a:bodyPr/>
          <a:lstStyle/>
          <a:p>
            <a:endParaRPr lang="en-EG"/>
          </a:p>
        </p:txBody>
      </p:sp>
      <p:sp>
        <p:nvSpPr>
          <p:cNvPr id="5" name="Text 3"/>
          <p:cNvSpPr/>
          <p:nvPr/>
        </p:nvSpPr>
        <p:spPr>
          <a:xfrm>
            <a:off x="457200" y="129844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024128" y="1280160"/>
            <a:ext cx="7662672" cy="274320"/>
          </a:xfrm>
          <a:prstGeom prst="rect">
            <a:avLst/>
          </a:prstGeom>
          <a:noFill/>
          <a:ln/>
        </p:spPr>
        <p:txBody>
          <a:bodyPr wrap="square" lIns="0" tIns="0" rIns="0" bIns="0" rtlCol="0" anchor="t"/>
          <a:lstStyle/>
          <a:p>
            <a:pPr marL="0" indent="0">
              <a:buNone/>
            </a:pPr>
            <a:r>
              <a:rPr lang="en-US" sz="1350" b="1" dirty="0">
                <a:solidFill>
                  <a:srgbClr val="0A0A0A"/>
                </a:solidFill>
                <a:latin typeface="Arial" pitchFamily="34" charset="0"/>
                <a:ea typeface="Arial" pitchFamily="34" charset="-122"/>
                <a:cs typeface="Arial" pitchFamily="34" charset="-120"/>
              </a:rPr>
              <a:t>ONE MOTION PER SHOT</a:t>
            </a:r>
            <a:endParaRPr lang="en-US" sz="1350" dirty="0"/>
          </a:p>
        </p:txBody>
      </p:sp>
      <p:sp>
        <p:nvSpPr>
          <p:cNvPr id="7" name="Text 5"/>
          <p:cNvSpPr/>
          <p:nvPr/>
        </p:nvSpPr>
        <p:spPr>
          <a:xfrm>
            <a:off x="1024128" y="1572768"/>
            <a:ext cx="7662672" cy="292608"/>
          </a:xfrm>
          <a:prstGeom prst="rect">
            <a:avLst/>
          </a:prstGeom>
          <a:noFill/>
          <a:ln/>
        </p:spPr>
        <p:txBody>
          <a:bodyPr wrap="square" lIns="0" tIns="0" rIns="0" bIns="0" rtlCol="0" anchor="t"/>
          <a:lstStyle/>
          <a:p>
            <a:pPr marL="0" indent="0">
              <a:buNone/>
            </a:pPr>
            <a:r>
              <a:rPr lang="en-US" sz="1050" dirty="0">
                <a:solidFill>
                  <a:srgbClr val="3A3A3A"/>
                </a:solidFill>
                <a:latin typeface="Arial" pitchFamily="34" charset="0"/>
                <a:ea typeface="Arial" pitchFamily="34" charset="-122"/>
                <a:cs typeface="Arial" pitchFamily="34" charset="-120"/>
              </a:rPr>
              <a:t>A pan and a push-in in the same five seconds gives you neither.</a:t>
            </a:r>
            <a:endParaRPr lang="en-US" sz="1050" dirty="0"/>
          </a:p>
        </p:txBody>
      </p:sp>
      <p:sp>
        <p:nvSpPr>
          <p:cNvPr id="8" name="Shape 6"/>
          <p:cNvSpPr/>
          <p:nvPr/>
        </p:nvSpPr>
        <p:spPr>
          <a:xfrm>
            <a:off x="457200" y="2057400"/>
            <a:ext cx="384048" cy="384048"/>
          </a:xfrm>
          <a:prstGeom prst="roundRect">
            <a:avLst>
              <a:gd name="adj" fmla="val 50000"/>
            </a:avLst>
          </a:prstGeom>
          <a:solidFill>
            <a:srgbClr val="0A0A0A"/>
          </a:solidFill>
          <a:ln/>
        </p:spPr>
        <p:txBody>
          <a:bodyPr/>
          <a:lstStyle/>
          <a:p>
            <a:endParaRPr lang="en-EG"/>
          </a:p>
        </p:txBody>
      </p:sp>
      <p:sp>
        <p:nvSpPr>
          <p:cNvPr id="9" name="Text 7"/>
          <p:cNvSpPr/>
          <p:nvPr/>
        </p:nvSpPr>
        <p:spPr>
          <a:xfrm>
            <a:off x="45720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024128" y="2039112"/>
            <a:ext cx="7662672" cy="274320"/>
          </a:xfrm>
          <a:prstGeom prst="rect">
            <a:avLst/>
          </a:prstGeom>
          <a:noFill/>
          <a:ln/>
        </p:spPr>
        <p:txBody>
          <a:bodyPr wrap="square" lIns="0" tIns="0" rIns="0" bIns="0" rtlCol="0" anchor="t"/>
          <a:lstStyle/>
          <a:p>
            <a:pPr marL="0" indent="0">
              <a:buNone/>
            </a:pPr>
            <a:r>
              <a:rPr lang="en-US" sz="1350" b="1" dirty="0">
                <a:solidFill>
                  <a:srgbClr val="0A0A0A"/>
                </a:solidFill>
                <a:latin typeface="Arial" pitchFamily="34" charset="0"/>
                <a:ea typeface="Arial" pitchFamily="34" charset="-122"/>
                <a:cs typeface="Arial" pitchFamily="34" charset="-120"/>
              </a:rPr>
              <a:t>MOTION NEEDS A REASON</a:t>
            </a:r>
            <a:endParaRPr lang="en-US" sz="1350" dirty="0"/>
          </a:p>
        </p:txBody>
      </p:sp>
      <p:sp>
        <p:nvSpPr>
          <p:cNvPr id="11" name="Text 9"/>
          <p:cNvSpPr/>
          <p:nvPr/>
        </p:nvSpPr>
        <p:spPr>
          <a:xfrm>
            <a:off x="1024128" y="2331720"/>
            <a:ext cx="7662672" cy="292608"/>
          </a:xfrm>
          <a:prstGeom prst="rect">
            <a:avLst/>
          </a:prstGeom>
          <a:noFill/>
          <a:ln/>
        </p:spPr>
        <p:txBody>
          <a:bodyPr wrap="square" lIns="0" tIns="0" rIns="0" bIns="0" rtlCol="0" anchor="t"/>
          <a:lstStyle/>
          <a:p>
            <a:pPr marL="0" indent="0">
              <a:buNone/>
            </a:pPr>
            <a:r>
              <a:rPr lang="en-US" sz="1050" dirty="0">
                <a:solidFill>
                  <a:srgbClr val="3A3A3A"/>
                </a:solidFill>
                <a:latin typeface="Arial" pitchFamily="34" charset="0"/>
                <a:ea typeface="Arial" pitchFamily="34" charset="-122"/>
                <a:cs typeface="Arial" pitchFamily="34" charset="-120"/>
              </a:rPr>
              <a:t>Movement carries meaning. It is not decoration, and stillness is a choice.</a:t>
            </a:r>
            <a:endParaRPr lang="en-US" sz="1050" dirty="0"/>
          </a:p>
        </p:txBody>
      </p:sp>
      <p:sp>
        <p:nvSpPr>
          <p:cNvPr id="12" name="Shape 10"/>
          <p:cNvSpPr/>
          <p:nvPr/>
        </p:nvSpPr>
        <p:spPr>
          <a:xfrm>
            <a:off x="457200" y="2816352"/>
            <a:ext cx="384048" cy="384048"/>
          </a:xfrm>
          <a:prstGeom prst="roundRect">
            <a:avLst>
              <a:gd name="adj" fmla="val 50000"/>
            </a:avLst>
          </a:prstGeom>
          <a:solidFill>
            <a:srgbClr val="0A0A0A"/>
          </a:solidFill>
          <a:ln/>
        </p:spPr>
        <p:txBody>
          <a:bodyPr/>
          <a:lstStyle/>
          <a:p>
            <a:endParaRPr lang="en-EG"/>
          </a:p>
        </p:txBody>
      </p:sp>
      <p:sp>
        <p:nvSpPr>
          <p:cNvPr id="13" name="Text 11"/>
          <p:cNvSpPr/>
          <p:nvPr/>
        </p:nvSpPr>
        <p:spPr>
          <a:xfrm>
            <a:off x="457200" y="281635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024128" y="2798064"/>
            <a:ext cx="7662672" cy="274320"/>
          </a:xfrm>
          <a:prstGeom prst="rect">
            <a:avLst/>
          </a:prstGeom>
          <a:noFill/>
          <a:ln/>
        </p:spPr>
        <p:txBody>
          <a:bodyPr wrap="square" lIns="0" tIns="0" rIns="0" bIns="0" rtlCol="0" anchor="t"/>
          <a:lstStyle/>
          <a:p>
            <a:pPr marL="0" indent="0">
              <a:buNone/>
            </a:pPr>
            <a:r>
              <a:rPr lang="en-US" sz="1350" b="1" dirty="0">
                <a:solidFill>
                  <a:srgbClr val="0A0A0A"/>
                </a:solidFill>
                <a:latin typeface="Arial" pitchFamily="34" charset="0"/>
                <a:ea typeface="Arial" pitchFamily="34" charset="-122"/>
                <a:cs typeface="Arial" pitchFamily="34" charset="-120"/>
              </a:rPr>
              <a:t>SLOWER READS AS PREMIUM</a:t>
            </a:r>
            <a:endParaRPr lang="en-US" sz="1350" dirty="0"/>
          </a:p>
        </p:txBody>
      </p:sp>
      <p:sp>
        <p:nvSpPr>
          <p:cNvPr id="15" name="Text 13"/>
          <p:cNvSpPr/>
          <p:nvPr/>
        </p:nvSpPr>
        <p:spPr>
          <a:xfrm>
            <a:off x="1024128" y="3090672"/>
            <a:ext cx="7662672" cy="292608"/>
          </a:xfrm>
          <a:prstGeom prst="rect">
            <a:avLst/>
          </a:prstGeom>
          <a:noFill/>
          <a:ln/>
        </p:spPr>
        <p:txBody>
          <a:bodyPr wrap="square" lIns="0" tIns="0" rIns="0" bIns="0" rtlCol="0" anchor="t"/>
          <a:lstStyle/>
          <a:p>
            <a:pPr marL="0" indent="0">
              <a:buNone/>
            </a:pPr>
            <a:r>
              <a:rPr lang="en-US" sz="1050" dirty="0">
                <a:solidFill>
                  <a:srgbClr val="3A3A3A"/>
                </a:solidFill>
                <a:latin typeface="Arial" pitchFamily="34" charset="0"/>
                <a:ea typeface="Arial" pitchFamily="34" charset="-122"/>
                <a:cs typeface="Arial" pitchFamily="34" charset="-120"/>
              </a:rPr>
              <a:t>Fast motion is also where faces and hands break. Slow is safer and looks more expensive.</a:t>
            </a:r>
            <a:endParaRPr lang="en-US" sz="1050" dirty="0"/>
          </a:p>
        </p:txBody>
      </p:sp>
      <p:sp>
        <p:nvSpPr>
          <p:cNvPr id="16" name="Shape 14"/>
          <p:cNvSpPr/>
          <p:nvPr/>
        </p:nvSpPr>
        <p:spPr>
          <a:xfrm>
            <a:off x="457200" y="3575304"/>
            <a:ext cx="384048" cy="384048"/>
          </a:xfrm>
          <a:prstGeom prst="roundRect">
            <a:avLst>
              <a:gd name="adj" fmla="val 50000"/>
            </a:avLst>
          </a:prstGeom>
          <a:solidFill>
            <a:srgbClr val="FF3B00"/>
          </a:solidFill>
          <a:ln/>
        </p:spPr>
        <p:txBody>
          <a:bodyPr/>
          <a:lstStyle/>
          <a:p>
            <a:endParaRPr lang="en-EG"/>
          </a:p>
        </p:txBody>
      </p:sp>
      <p:sp>
        <p:nvSpPr>
          <p:cNvPr id="17" name="Text 15"/>
          <p:cNvSpPr/>
          <p:nvPr/>
        </p:nvSpPr>
        <p:spPr>
          <a:xfrm>
            <a:off x="457200" y="35753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6"/>
          <p:cNvSpPr/>
          <p:nvPr/>
        </p:nvSpPr>
        <p:spPr>
          <a:xfrm>
            <a:off x="1024128" y="3557016"/>
            <a:ext cx="7662672" cy="274320"/>
          </a:xfrm>
          <a:prstGeom prst="rect">
            <a:avLst/>
          </a:prstGeom>
          <a:noFill/>
          <a:ln/>
        </p:spPr>
        <p:txBody>
          <a:bodyPr wrap="square" lIns="0" tIns="0" rIns="0" bIns="0" rtlCol="0" anchor="t"/>
          <a:lstStyle/>
          <a:p>
            <a:pPr marL="0" indent="0">
              <a:buNone/>
            </a:pPr>
            <a:r>
              <a:rPr lang="en-US" sz="1350" b="1" dirty="0">
                <a:solidFill>
                  <a:srgbClr val="0A0A0A"/>
                </a:solidFill>
                <a:latin typeface="Arial" pitchFamily="34" charset="0"/>
                <a:ea typeface="Arial" pitchFamily="34" charset="-122"/>
                <a:cs typeface="Arial" pitchFamily="34" charset="-120"/>
              </a:rPr>
              <a:t>NEVER ANIMATE THE LOGO FRAME</a:t>
            </a:r>
            <a:endParaRPr lang="en-US" sz="1350" dirty="0"/>
          </a:p>
        </p:txBody>
      </p:sp>
      <p:sp>
        <p:nvSpPr>
          <p:cNvPr id="19" name="Text 17"/>
          <p:cNvSpPr/>
          <p:nvPr/>
        </p:nvSpPr>
        <p:spPr>
          <a:xfrm>
            <a:off x="1024128" y="3849624"/>
            <a:ext cx="7662672" cy="292608"/>
          </a:xfrm>
          <a:prstGeom prst="rect">
            <a:avLst/>
          </a:prstGeom>
          <a:noFill/>
          <a:ln/>
        </p:spPr>
        <p:txBody>
          <a:bodyPr wrap="square" lIns="0" tIns="0" rIns="0" bIns="0" rtlCol="0" anchor="t"/>
          <a:lstStyle/>
          <a:p>
            <a:pPr marL="0" indent="0">
              <a:buNone/>
            </a:pPr>
            <a:r>
              <a:rPr lang="en-US" sz="1050" dirty="0">
                <a:solidFill>
                  <a:srgbClr val="3A3A3A"/>
                </a:solidFill>
                <a:latin typeface="Arial" pitchFamily="34" charset="0"/>
                <a:ea typeface="Arial" pitchFamily="34" charset="-122"/>
                <a:cs typeface="Arial" pitchFamily="34" charset="-120"/>
              </a:rPr>
              <a:t>Keep it still, or move it in the edit. Generated logos deform.</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2611D0E-88DD-12E1-8F52-7462E174219A}"/>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3F4CCBC1-7D0D-921B-16B0-7210469FBAAE}"/>
              </a:ext>
            </a:extLst>
          </p:cNvPr>
          <p:cNvSpPr/>
          <p:nvPr/>
        </p:nvSpPr>
        <p:spPr>
          <a:xfrm>
            <a:off x="457200" y="640080"/>
            <a:ext cx="8229600" cy="502920"/>
          </a:xfrm>
          <a:prstGeom prst="rect">
            <a:avLst/>
          </a:prstGeom>
          <a:noFill/>
          <a:ln/>
        </p:spPr>
        <p:txBody>
          <a:bodyPr wrap="square" lIns="0" tIns="0" rIns="0" bIns="0" rtlCol="0" anchor="t"/>
          <a:lstStyle/>
          <a:p>
            <a:r>
              <a:rPr lang="en-EG" sz="3000" b="1" dirty="0">
                <a:solidFill>
                  <a:srgbClr val="0A0A0A"/>
                </a:solidFill>
                <a:latin typeface="Arial" pitchFamily="34" charset="0"/>
                <a:cs typeface="Arial" pitchFamily="34" charset="-120"/>
              </a:rPr>
              <a:t>Video Prompt Structure</a:t>
            </a:r>
          </a:p>
        </p:txBody>
      </p:sp>
      <p:sp>
        <p:nvSpPr>
          <p:cNvPr id="6" name="Text 2">
            <a:extLst>
              <a:ext uri="{FF2B5EF4-FFF2-40B4-BE49-F238E27FC236}">
                <a16:creationId xmlns:a16="http://schemas.microsoft.com/office/drawing/2014/main" id="{8AE9C77E-7ECD-93AA-A3ED-E738AF351DED}"/>
              </a:ext>
            </a:extLst>
          </p:cNvPr>
          <p:cNvSpPr/>
          <p:nvPr/>
        </p:nvSpPr>
        <p:spPr>
          <a:xfrm>
            <a:off x="457200" y="1152144"/>
            <a:ext cx="8229600" cy="256032"/>
          </a:xfrm>
          <a:prstGeom prst="rect">
            <a:avLst/>
          </a:prstGeom>
          <a:noFill/>
          <a:ln/>
        </p:spPr>
        <p:txBody>
          <a:bodyPr wrap="square" lIns="0" tIns="0" rIns="0" bIns="0" rtlCol="0" anchor="ctr"/>
          <a:lstStyle/>
          <a:p>
            <a:r>
              <a:rPr lang="en-EG" sz="1200" dirty="0">
                <a:solidFill>
                  <a:srgbClr val="3A3A3A"/>
                </a:solidFill>
                <a:latin typeface="Arial" pitchFamily="34" charset="0"/>
                <a:cs typeface="Arial" pitchFamily="34" charset="-120"/>
              </a:rPr>
              <a:t>Prompt example.</a:t>
            </a:r>
            <a:endParaRPr lang="en-US" sz="1200" dirty="0">
              <a:solidFill>
                <a:srgbClr val="3A3A3A"/>
              </a:solidFill>
              <a:latin typeface="Arial" pitchFamily="34" charset="0"/>
              <a:cs typeface="Arial" pitchFamily="34" charset="-120"/>
            </a:endParaRPr>
          </a:p>
        </p:txBody>
      </p:sp>
      <p:sp>
        <p:nvSpPr>
          <p:cNvPr id="7" name="Shape 3">
            <a:extLst>
              <a:ext uri="{FF2B5EF4-FFF2-40B4-BE49-F238E27FC236}">
                <a16:creationId xmlns:a16="http://schemas.microsoft.com/office/drawing/2014/main" id="{69781E7D-3869-340B-02EC-28CF11B79D81}"/>
              </a:ext>
            </a:extLst>
          </p:cNvPr>
          <p:cNvSpPr/>
          <p:nvPr/>
        </p:nvSpPr>
        <p:spPr>
          <a:xfrm>
            <a:off x="457200" y="2244371"/>
            <a:ext cx="8028432" cy="1490954"/>
          </a:xfrm>
          <a:prstGeom prst="roundRect">
            <a:avLst>
              <a:gd name="adj" fmla="val 5263"/>
            </a:avLst>
          </a:prstGeom>
          <a:solidFill>
            <a:srgbClr val="F6F6F6"/>
          </a:solidFill>
          <a:ln/>
        </p:spPr>
        <p:txBody>
          <a:bodyPr/>
          <a:lstStyle/>
          <a:p>
            <a:endParaRPr lang="en-EG"/>
          </a:p>
        </p:txBody>
      </p:sp>
      <p:sp>
        <p:nvSpPr>
          <p:cNvPr id="12" name="Text 8">
            <a:extLst>
              <a:ext uri="{FF2B5EF4-FFF2-40B4-BE49-F238E27FC236}">
                <a16:creationId xmlns:a16="http://schemas.microsoft.com/office/drawing/2014/main" id="{D65E535B-B371-B785-81CB-CFC39A9BC9FD}"/>
              </a:ext>
            </a:extLst>
          </p:cNvPr>
          <p:cNvSpPr/>
          <p:nvPr/>
        </p:nvSpPr>
        <p:spPr>
          <a:xfrm>
            <a:off x="823441" y="2689900"/>
            <a:ext cx="7295950" cy="816222"/>
          </a:xfrm>
          <a:prstGeom prst="rect">
            <a:avLst/>
          </a:prstGeom>
          <a:noFill/>
          <a:ln/>
        </p:spPr>
        <p:txBody>
          <a:bodyPr wrap="square" lIns="0" tIns="0" rIns="0" bIns="0" rtlCol="0" anchor="t"/>
          <a:lstStyle/>
          <a:p>
            <a:pPr>
              <a:lnSpc>
                <a:spcPts val="1200"/>
              </a:lnSpc>
            </a:pPr>
            <a:r>
              <a:rPr lang="en-EG" sz="950" dirty="0">
                <a:solidFill>
                  <a:srgbClr val="8C8C8C"/>
                </a:solidFill>
                <a:latin typeface="Arial" pitchFamily="34" charset="0"/>
                <a:cs typeface="Arial" pitchFamily="34" charset="-120"/>
              </a:rPr>
              <a:t>Jamila takes her first sip of Iced Coffee while her expression shifts from tired to refreshed. The camera slowly pushes in. Morning light moves softly through the curtains of the cozy kitchen in the background. Motion is slow and cinematic. Keep the same identity, face, outfit, product, composition, lighting, background, and visual style from the input image.</a:t>
            </a:r>
          </a:p>
        </p:txBody>
      </p:sp>
      <p:sp>
        <p:nvSpPr>
          <p:cNvPr id="3" name="Text 2">
            <a:extLst>
              <a:ext uri="{FF2B5EF4-FFF2-40B4-BE49-F238E27FC236}">
                <a16:creationId xmlns:a16="http://schemas.microsoft.com/office/drawing/2014/main" id="{DE2C4B22-B1B8-D63A-D554-945F8F2211CF}"/>
              </a:ext>
            </a:extLst>
          </p:cNvPr>
          <p:cNvSpPr/>
          <p:nvPr/>
        </p:nvSpPr>
        <p:spPr>
          <a:xfrm>
            <a:off x="457200" y="1585280"/>
            <a:ext cx="8229600" cy="256032"/>
          </a:xfrm>
          <a:prstGeom prst="rect">
            <a:avLst/>
          </a:prstGeom>
          <a:noFill/>
          <a:ln/>
        </p:spPr>
        <p:txBody>
          <a:bodyPr wrap="square" lIns="0" tIns="0" rIns="0" bIns="0" rtlCol="0" anchor="ctr"/>
          <a:lstStyle/>
          <a:p>
            <a:r>
              <a:rPr lang="en-EG" b="1" dirty="0"/>
              <a:t>Subject Action + Camera Movement + Environment Motion + Consistency Lock</a:t>
            </a:r>
            <a:endParaRPr lang="en-US" b="1" dirty="0"/>
          </a:p>
        </p:txBody>
      </p:sp>
    </p:spTree>
    <p:extLst>
      <p:ext uri="{BB962C8B-B14F-4D97-AF65-F5344CB8AC3E}">
        <p14:creationId xmlns:p14="http://schemas.microsoft.com/office/powerpoint/2010/main" val="505734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THE ARITHMETIC OF A 30-SECOND FILM</a:t>
            </a:r>
            <a:endParaRPr lang="en-US" sz="3000" dirty="0"/>
          </a:p>
        </p:txBody>
      </p:sp>
      <p:sp>
        <p:nvSpPr>
          <p:cNvPr id="4" name="Shape 2"/>
          <p:cNvSpPr/>
          <p:nvPr/>
        </p:nvSpPr>
        <p:spPr>
          <a:xfrm>
            <a:off x="457200" y="1298448"/>
            <a:ext cx="1901952" cy="1508760"/>
          </a:xfrm>
          <a:prstGeom prst="roundRect">
            <a:avLst>
              <a:gd name="adj" fmla="val 4848"/>
            </a:avLst>
          </a:prstGeom>
          <a:solidFill>
            <a:srgbClr val="0A0A0A"/>
          </a:solidFill>
          <a:ln/>
        </p:spPr>
        <p:txBody>
          <a:bodyPr/>
          <a:lstStyle/>
          <a:p>
            <a:endParaRPr lang="en-EG"/>
          </a:p>
        </p:txBody>
      </p:sp>
      <p:sp>
        <p:nvSpPr>
          <p:cNvPr id="5" name="Text 3"/>
          <p:cNvSpPr/>
          <p:nvPr/>
        </p:nvSpPr>
        <p:spPr>
          <a:xfrm>
            <a:off x="457200" y="1463040"/>
            <a:ext cx="1901952" cy="658368"/>
          </a:xfrm>
          <a:prstGeom prst="rect">
            <a:avLst/>
          </a:prstGeom>
          <a:noFill/>
          <a:ln/>
        </p:spPr>
        <p:txBody>
          <a:bodyPr wrap="square" lIns="0" tIns="0" rIns="0" bIns="0" rtlCol="0" anchor="ctr"/>
          <a:lstStyle/>
          <a:p>
            <a:pPr marL="0" indent="0" algn="ctr">
              <a:buNone/>
            </a:pPr>
            <a:r>
              <a:rPr lang="en-US" sz="4000" b="1" dirty="0">
                <a:solidFill>
                  <a:srgbClr val="FF3B00"/>
                </a:solidFill>
                <a:latin typeface="Arial" pitchFamily="34" charset="0"/>
                <a:ea typeface="Arial" pitchFamily="34" charset="-122"/>
                <a:cs typeface="Arial" pitchFamily="34" charset="-120"/>
              </a:rPr>
              <a:t>12</a:t>
            </a:r>
            <a:endParaRPr lang="en-US" sz="4000" dirty="0"/>
          </a:p>
        </p:txBody>
      </p:sp>
      <p:sp>
        <p:nvSpPr>
          <p:cNvPr id="6" name="Text 4"/>
          <p:cNvSpPr/>
          <p:nvPr/>
        </p:nvSpPr>
        <p:spPr>
          <a:xfrm>
            <a:off x="457200" y="2157984"/>
            <a:ext cx="1901952" cy="237744"/>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Arial" pitchFamily="34" charset="0"/>
                <a:ea typeface="Arial" pitchFamily="34" charset="-122"/>
                <a:cs typeface="Arial" pitchFamily="34" charset="-120"/>
              </a:rPr>
              <a:t>SHOTS</a:t>
            </a:r>
            <a:endParaRPr lang="en-US" sz="1050" dirty="0"/>
          </a:p>
        </p:txBody>
      </p:sp>
      <p:sp>
        <p:nvSpPr>
          <p:cNvPr id="7" name="Text 5"/>
          <p:cNvSpPr/>
          <p:nvPr/>
        </p:nvSpPr>
        <p:spPr>
          <a:xfrm>
            <a:off x="548640" y="2395728"/>
            <a:ext cx="1719072" cy="329184"/>
          </a:xfrm>
          <a:prstGeom prst="rect">
            <a:avLst/>
          </a:prstGeom>
          <a:noFill/>
          <a:ln/>
        </p:spPr>
        <p:txBody>
          <a:bodyPr wrap="square" lIns="0" tIns="0" rIns="0" bIns="0" rtlCol="0" anchor="t"/>
          <a:lstStyle/>
          <a:p>
            <a:pPr marL="0" indent="0" algn="ctr">
              <a:buNone/>
            </a:pPr>
            <a:r>
              <a:rPr lang="en-US" sz="900" dirty="0">
                <a:solidFill>
                  <a:srgbClr val="8C8C8C"/>
                </a:solidFill>
                <a:latin typeface="Arial" pitchFamily="34" charset="0"/>
                <a:ea typeface="Arial" pitchFamily="34" charset="-122"/>
                <a:cs typeface="Arial" pitchFamily="34" charset="-120"/>
              </a:rPr>
              <a:t>30s ÷ 2.5s average</a:t>
            </a:r>
            <a:endParaRPr lang="en-US" sz="900" dirty="0"/>
          </a:p>
        </p:txBody>
      </p:sp>
      <p:sp>
        <p:nvSpPr>
          <p:cNvPr id="8" name="Shape 6"/>
          <p:cNvSpPr/>
          <p:nvPr/>
        </p:nvSpPr>
        <p:spPr>
          <a:xfrm>
            <a:off x="2560320" y="1298448"/>
            <a:ext cx="1901952" cy="1508760"/>
          </a:xfrm>
          <a:prstGeom prst="roundRect">
            <a:avLst>
              <a:gd name="adj" fmla="val 4848"/>
            </a:avLst>
          </a:prstGeom>
          <a:solidFill>
            <a:srgbClr val="F6F6F6"/>
          </a:solidFill>
          <a:ln/>
        </p:spPr>
        <p:txBody>
          <a:bodyPr/>
          <a:lstStyle/>
          <a:p>
            <a:endParaRPr lang="en-EG"/>
          </a:p>
        </p:txBody>
      </p:sp>
      <p:sp>
        <p:nvSpPr>
          <p:cNvPr id="9" name="Text 7"/>
          <p:cNvSpPr/>
          <p:nvPr/>
        </p:nvSpPr>
        <p:spPr>
          <a:xfrm>
            <a:off x="2560320" y="1463040"/>
            <a:ext cx="1901952" cy="658368"/>
          </a:xfrm>
          <a:prstGeom prst="rect">
            <a:avLst/>
          </a:prstGeom>
          <a:noFill/>
          <a:ln/>
        </p:spPr>
        <p:txBody>
          <a:bodyPr wrap="square" lIns="0" tIns="0" rIns="0" bIns="0" rtlCol="0" anchor="ctr"/>
          <a:lstStyle/>
          <a:p>
            <a:pPr marL="0" indent="0" algn="ctr">
              <a:buNone/>
            </a:pPr>
            <a:r>
              <a:rPr lang="en-US" sz="4000" b="1" dirty="0">
                <a:solidFill>
                  <a:srgbClr val="0A0A0A"/>
                </a:solidFill>
                <a:latin typeface="Arial" pitchFamily="34" charset="0"/>
                <a:ea typeface="Arial" pitchFamily="34" charset="-122"/>
                <a:cs typeface="Arial" pitchFamily="34" charset="-120"/>
              </a:rPr>
              <a:t>~36</a:t>
            </a:r>
            <a:endParaRPr lang="en-US" sz="4000" dirty="0"/>
          </a:p>
        </p:txBody>
      </p:sp>
      <p:sp>
        <p:nvSpPr>
          <p:cNvPr id="10" name="Text 8"/>
          <p:cNvSpPr/>
          <p:nvPr/>
        </p:nvSpPr>
        <p:spPr>
          <a:xfrm>
            <a:off x="2560320" y="2157984"/>
            <a:ext cx="1901952" cy="237744"/>
          </a:xfrm>
          <a:prstGeom prst="rect">
            <a:avLst/>
          </a:prstGeom>
          <a:noFill/>
          <a:ln/>
        </p:spPr>
        <p:txBody>
          <a:bodyPr wrap="square" lIns="0" tIns="0" rIns="0" bIns="0" rtlCol="0" anchor="ctr"/>
          <a:lstStyle/>
          <a:p>
            <a:pPr marL="0" indent="0" algn="ctr">
              <a:buNone/>
            </a:pPr>
            <a:r>
              <a:rPr lang="en-US" sz="1050" b="1" kern="0" spc="100" dirty="0">
                <a:solidFill>
                  <a:srgbClr val="0A0A0A"/>
                </a:solidFill>
                <a:latin typeface="Arial" pitchFamily="34" charset="0"/>
                <a:ea typeface="Arial" pitchFamily="34" charset="-122"/>
                <a:cs typeface="Arial" pitchFamily="34" charset="-120"/>
              </a:rPr>
              <a:t>KEYFRAMES</a:t>
            </a:r>
            <a:endParaRPr lang="en-US" sz="1050" dirty="0"/>
          </a:p>
        </p:txBody>
      </p:sp>
      <p:sp>
        <p:nvSpPr>
          <p:cNvPr id="11" name="Text 9"/>
          <p:cNvSpPr/>
          <p:nvPr/>
        </p:nvSpPr>
        <p:spPr>
          <a:xfrm>
            <a:off x="2651760" y="2395728"/>
            <a:ext cx="1719072" cy="329184"/>
          </a:xfrm>
          <a:prstGeom prst="rect">
            <a:avLst/>
          </a:prstGeom>
          <a:noFill/>
          <a:ln/>
        </p:spPr>
        <p:txBody>
          <a:bodyPr wrap="square" lIns="0" tIns="0" rIns="0" bIns="0" rtlCol="0" anchor="t"/>
          <a:lstStyle/>
          <a:p>
            <a:pPr marL="0" indent="0" algn="ctr">
              <a:buNone/>
            </a:pPr>
            <a:r>
              <a:rPr lang="en-US" sz="900" dirty="0">
                <a:solidFill>
                  <a:srgbClr val="8C8C8C"/>
                </a:solidFill>
                <a:latin typeface="Arial" pitchFamily="34" charset="0"/>
                <a:ea typeface="Arial" pitchFamily="34" charset="-122"/>
                <a:cs typeface="Arial" pitchFamily="34" charset="-120"/>
              </a:rPr>
              <a:t>3 per shot</a:t>
            </a:r>
            <a:endParaRPr lang="en-US" sz="900" dirty="0"/>
          </a:p>
        </p:txBody>
      </p:sp>
      <p:sp>
        <p:nvSpPr>
          <p:cNvPr id="12" name="Shape 10"/>
          <p:cNvSpPr/>
          <p:nvPr/>
        </p:nvSpPr>
        <p:spPr>
          <a:xfrm>
            <a:off x="4663440" y="1298448"/>
            <a:ext cx="1901952" cy="1508760"/>
          </a:xfrm>
          <a:prstGeom prst="roundRect">
            <a:avLst>
              <a:gd name="adj" fmla="val 4848"/>
            </a:avLst>
          </a:prstGeom>
          <a:solidFill>
            <a:srgbClr val="F6F6F6"/>
          </a:solidFill>
          <a:ln/>
        </p:spPr>
        <p:txBody>
          <a:bodyPr/>
          <a:lstStyle/>
          <a:p>
            <a:endParaRPr lang="en-EG"/>
          </a:p>
        </p:txBody>
      </p:sp>
      <p:sp>
        <p:nvSpPr>
          <p:cNvPr id="13" name="Text 11"/>
          <p:cNvSpPr/>
          <p:nvPr/>
        </p:nvSpPr>
        <p:spPr>
          <a:xfrm>
            <a:off x="4663440" y="1463040"/>
            <a:ext cx="1901952" cy="658368"/>
          </a:xfrm>
          <a:prstGeom prst="rect">
            <a:avLst/>
          </a:prstGeom>
          <a:noFill/>
          <a:ln/>
        </p:spPr>
        <p:txBody>
          <a:bodyPr wrap="square" lIns="0" tIns="0" rIns="0" bIns="0" rtlCol="0" anchor="ctr"/>
          <a:lstStyle/>
          <a:p>
            <a:pPr marL="0" indent="0" algn="ctr">
              <a:buNone/>
            </a:pPr>
            <a:r>
              <a:rPr lang="en-US" sz="4000" b="1" dirty="0">
                <a:solidFill>
                  <a:srgbClr val="0A0A0A"/>
                </a:solidFill>
                <a:latin typeface="Arial" pitchFamily="34" charset="0"/>
                <a:ea typeface="Arial" pitchFamily="34" charset="-122"/>
                <a:cs typeface="Arial" pitchFamily="34" charset="-120"/>
              </a:rPr>
              <a:t>~120</a:t>
            </a:r>
            <a:endParaRPr lang="en-US" sz="4000" dirty="0"/>
          </a:p>
        </p:txBody>
      </p:sp>
      <p:sp>
        <p:nvSpPr>
          <p:cNvPr id="14" name="Text 12"/>
          <p:cNvSpPr/>
          <p:nvPr/>
        </p:nvSpPr>
        <p:spPr>
          <a:xfrm>
            <a:off x="4663440" y="2157984"/>
            <a:ext cx="1901952" cy="237744"/>
          </a:xfrm>
          <a:prstGeom prst="rect">
            <a:avLst/>
          </a:prstGeom>
          <a:noFill/>
          <a:ln/>
        </p:spPr>
        <p:txBody>
          <a:bodyPr wrap="square" lIns="0" tIns="0" rIns="0" bIns="0" rtlCol="0" anchor="ctr"/>
          <a:lstStyle/>
          <a:p>
            <a:pPr marL="0" indent="0" algn="ctr">
              <a:buNone/>
            </a:pPr>
            <a:r>
              <a:rPr lang="en-US" sz="1050" b="1" kern="0" spc="100" dirty="0">
                <a:solidFill>
                  <a:srgbClr val="0A0A0A"/>
                </a:solidFill>
                <a:latin typeface="Arial" pitchFamily="34" charset="0"/>
                <a:ea typeface="Arial" pitchFamily="34" charset="-122"/>
                <a:cs typeface="Arial" pitchFamily="34" charset="-120"/>
              </a:rPr>
              <a:t>IMAGE GENS</a:t>
            </a:r>
            <a:endParaRPr lang="en-US" sz="1050" dirty="0"/>
          </a:p>
        </p:txBody>
      </p:sp>
      <p:sp>
        <p:nvSpPr>
          <p:cNvPr id="15" name="Text 13"/>
          <p:cNvSpPr/>
          <p:nvPr/>
        </p:nvSpPr>
        <p:spPr>
          <a:xfrm>
            <a:off x="4754880" y="2395728"/>
            <a:ext cx="1719072" cy="329184"/>
          </a:xfrm>
          <a:prstGeom prst="rect">
            <a:avLst/>
          </a:prstGeom>
          <a:noFill/>
          <a:ln/>
        </p:spPr>
        <p:txBody>
          <a:bodyPr wrap="square" lIns="0" tIns="0" rIns="0" bIns="0" rtlCol="0" anchor="t"/>
          <a:lstStyle/>
          <a:p>
            <a:pPr marL="0" indent="0" algn="ctr">
              <a:buNone/>
            </a:pPr>
            <a:r>
              <a:rPr lang="en-US" sz="900" dirty="0">
                <a:solidFill>
                  <a:srgbClr val="8C8C8C"/>
                </a:solidFill>
                <a:latin typeface="Arial" pitchFamily="34" charset="0"/>
                <a:ea typeface="Arial" pitchFamily="34" charset="-122"/>
                <a:cs typeface="Arial" pitchFamily="34" charset="-120"/>
              </a:rPr>
              <a:t>≈ 4 attempts each</a:t>
            </a:r>
            <a:endParaRPr lang="en-US" sz="900" dirty="0"/>
          </a:p>
        </p:txBody>
      </p:sp>
      <p:sp>
        <p:nvSpPr>
          <p:cNvPr id="16" name="Shape 14"/>
          <p:cNvSpPr/>
          <p:nvPr/>
        </p:nvSpPr>
        <p:spPr>
          <a:xfrm>
            <a:off x="6766560" y="1298448"/>
            <a:ext cx="1901952" cy="1508760"/>
          </a:xfrm>
          <a:prstGeom prst="roundRect">
            <a:avLst>
              <a:gd name="adj" fmla="val 4848"/>
            </a:avLst>
          </a:prstGeom>
          <a:solidFill>
            <a:srgbClr val="F6F6F6"/>
          </a:solidFill>
          <a:ln/>
        </p:spPr>
        <p:txBody>
          <a:bodyPr/>
          <a:lstStyle/>
          <a:p>
            <a:endParaRPr lang="en-EG"/>
          </a:p>
        </p:txBody>
      </p:sp>
      <p:sp>
        <p:nvSpPr>
          <p:cNvPr id="17" name="Text 15"/>
          <p:cNvSpPr/>
          <p:nvPr/>
        </p:nvSpPr>
        <p:spPr>
          <a:xfrm>
            <a:off x="6766560" y="1463040"/>
            <a:ext cx="1901952" cy="658368"/>
          </a:xfrm>
          <a:prstGeom prst="rect">
            <a:avLst/>
          </a:prstGeom>
          <a:noFill/>
          <a:ln/>
        </p:spPr>
        <p:txBody>
          <a:bodyPr wrap="square" lIns="0" tIns="0" rIns="0" bIns="0" rtlCol="0" anchor="ctr"/>
          <a:lstStyle/>
          <a:p>
            <a:pPr marL="0" indent="0" algn="ctr">
              <a:buNone/>
            </a:pPr>
            <a:r>
              <a:rPr lang="en-US" sz="4000" b="1" dirty="0">
                <a:solidFill>
                  <a:srgbClr val="0A0A0A"/>
                </a:solidFill>
                <a:latin typeface="Arial" pitchFamily="34" charset="0"/>
                <a:ea typeface="Arial" pitchFamily="34" charset="-122"/>
                <a:cs typeface="Arial" pitchFamily="34" charset="-120"/>
              </a:rPr>
              <a:t>~60</a:t>
            </a:r>
            <a:endParaRPr lang="en-US" sz="4000" dirty="0"/>
          </a:p>
        </p:txBody>
      </p:sp>
      <p:sp>
        <p:nvSpPr>
          <p:cNvPr id="18" name="Text 16"/>
          <p:cNvSpPr/>
          <p:nvPr/>
        </p:nvSpPr>
        <p:spPr>
          <a:xfrm>
            <a:off x="6766560" y="2157984"/>
            <a:ext cx="1901952" cy="237744"/>
          </a:xfrm>
          <a:prstGeom prst="rect">
            <a:avLst/>
          </a:prstGeom>
          <a:noFill/>
          <a:ln/>
        </p:spPr>
        <p:txBody>
          <a:bodyPr wrap="square" lIns="0" tIns="0" rIns="0" bIns="0" rtlCol="0" anchor="ctr"/>
          <a:lstStyle/>
          <a:p>
            <a:pPr marL="0" indent="0" algn="ctr">
              <a:buNone/>
            </a:pPr>
            <a:r>
              <a:rPr lang="en-US" sz="1050" b="1" kern="0" spc="100" dirty="0">
                <a:solidFill>
                  <a:srgbClr val="0A0A0A"/>
                </a:solidFill>
                <a:latin typeface="Arial" pitchFamily="34" charset="0"/>
                <a:ea typeface="Arial" pitchFamily="34" charset="-122"/>
                <a:cs typeface="Arial" pitchFamily="34" charset="-120"/>
              </a:rPr>
              <a:t>VIDEO GENS</a:t>
            </a:r>
            <a:endParaRPr lang="en-US" sz="1050" dirty="0"/>
          </a:p>
        </p:txBody>
      </p:sp>
      <p:sp>
        <p:nvSpPr>
          <p:cNvPr id="19" name="Text 17"/>
          <p:cNvSpPr/>
          <p:nvPr/>
        </p:nvSpPr>
        <p:spPr>
          <a:xfrm>
            <a:off x="6858000" y="2395728"/>
            <a:ext cx="1719072" cy="329184"/>
          </a:xfrm>
          <a:prstGeom prst="rect">
            <a:avLst/>
          </a:prstGeom>
          <a:noFill/>
          <a:ln/>
        </p:spPr>
        <p:txBody>
          <a:bodyPr wrap="square" lIns="0" tIns="0" rIns="0" bIns="0" rtlCol="0" anchor="t"/>
          <a:lstStyle/>
          <a:p>
            <a:pPr marL="0" indent="0" algn="ctr">
              <a:buNone/>
            </a:pPr>
            <a:r>
              <a:rPr lang="en-US" sz="900" dirty="0">
                <a:solidFill>
                  <a:srgbClr val="8C8C8C"/>
                </a:solidFill>
                <a:latin typeface="Arial" pitchFamily="34" charset="0"/>
                <a:ea typeface="Arial" pitchFamily="34" charset="-122"/>
                <a:cs typeface="Arial" pitchFamily="34" charset="-120"/>
              </a:rPr>
              <a:t>4–6 attempts per shot</a:t>
            </a:r>
            <a:endParaRPr lang="en-US" sz="900" dirty="0"/>
          </a:p>
        </p:txBody>
      </p:sp>
      <p:sp>
        <p:nvSpPr>
          <p:cNvPr id="20" name="Shape 18"/>
          <p:cNvSpPr/>
          <p:nvPr/>
        </p:nvSpPr>
        <p:spPr>
          <a:xfrm>
            <a:off x="457200" y="3035808"/>
            <a:ext cx="8229600" cy="1234440"/>
          </a:xfrm>
          <a:prstGeom prst="roundRect">
            <a:avLst>
              <a:gd name="adj" fmla="val 5926"/>
            </a:avLst>
          </a:prstGeom>
          <a:solidFill>
            <a:srgbClr val="F6F6F6"/>
          </a:solidFill>
          <a:ln/>
        </p:spPr>
        <p:txBody>
          <a:bodyPr/>
          <a:lstStyle/>
          <a:p>
            <a:endParaRPr lang="en-EG"/>
          </a:p>
        </p:txBody>
      </p:sp>
      <p:sp>
        <p:nvSpPr>
          <p:cNvPr id="21" name="Text 19"/>
          <p:cNvSpPr/>
          <p:nvPr/>
        </p:nvSpPr>
        <p:spPr>
          <a:xfrm>
            <a:off x="685800" y="3200400"/>
            <a:ext cx="7772400" cy="256032"/>
          </a:xfrm>
          <a:prstGeom prst="rect">
            <a:avLst/>
          </a:prstGeom>
          <a:noFill/>
          <a:ln/>
        </p:spPr>
        <p:txBody>
          <a:bodyPr wrap="square" lIns="0" tIns="0" rIns="0" bIns="0" rtlCol="0" anchor="ctr"/>
          <a:lstStyle/>
          <a:p>
            <a:pPr marL="0" indent="0">
              <a:buNone/>
            </a:pPr>
            <a:r>
              <a:rPr lang="en-US" sz="1100" b="1" kern="0" spc="100" dirty="0">
                <a:solidFill>
                  <a:srgbClr val="0A0A0A"/>
                </a:solidFill>
                <a:latin typeface="Arial" pitchFamily="34" charset="0"/>
                <a:ea typeface="Arial" pitchFamily="34" charset="-122"/>
                <a:cs typeface="Arial" pitchFamily="34" charset="-120"/>
              </a:rPr>
              <a:t>SET AN ITERATION BUDGET PER SHOT — BEFORE YOU START</a:t>
            </a:r>
            <a:endParaRPr lang="en-US" sz="1100" dirty="0"/>
          </a:p>
        </p:txBody>
      </p:sp>
      <p:sp>
        <p:nvSpPr>
          <p:cNvPr id="22" name="Text 20"/>
          <p:cNvSpPr/>
          <p:nvPr/>
        </p:nvSpPr>
        <p:spPr>
          <a:xfrm>
            <a:off x="685800" y="3529584"/>
            <a:ext cx="7772400" cy="685800"/>
          </a:xfrm>
          <a:prstGeom prst="rect">
            <a:avLst/>
          </a:prstGeom>
          <a:noFill/>
          <a:ln/>
        </p:spPr>
        <p:txBody>
          <a:bodyPr wrap="square" lIns="0" tIns="0" rIns="0" bIns="0" rtlCol="0" anchor="t"/>
          <a:lstStyle/>
          <a:p>
            <a:pPr marL="0" indent="0">
              <a:lnSpc>
                <a:spcPts val="1500"/>
              </a:lnSpc>
              <a:buNone/>
            </a:pPr>
            <a:r>
              <a:rPr lang="en-US" sz="1100" dirty="0">
                <a:solidFill>
                  <a:srgbClr val="3A3A3A"/>
                </a:solidFill>
                <a:latin typeface="Arial" pitchFamily="34" charset="0"/>
                <a:ea typeface="Arial" pitchFamily="34" charset="-122"/>
                <a:cs typeface="Arial" pitchFamily="34" charset="-120"/>
              </a:rPr>
              <a:t>Roughly one generation in four to six is usable. That is normal — it is not a sign you are doing it wrong. When you hit your budget on a shot, stop generating and go back to the keyframe. The problem is almost always upstream.</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0080"/>
            <a:ext cx="8229600" cy="502920"/>
          </a:xfrm>
          <a:prstGeom prst="rect">
            <a:avLst/>
          </a:prstGeom>
          <a:noFill/>
          <a:ln/>
        </p:spPr>
        <p:txBody>
          <a:bodyPr wrap="square" lIns="0" tIns="0" rIns="0" bIns="0" rtlCol="0" anchor="t"/>
          <a:lstStyle/>
          <a:p>
            <a:pPr marL="0" indent="0">
              <a:buNone/>
            </a:pPr>
            <a:r>
              <a:rPr lang="en-US" sz="3000" b="1" dirty="0">
                <a:solidFill>
                  <a:srgbClr val="0A0A0A"/>
                </a:solidFill>
                <a:latin typeface="Arial" pitchFamily="34" charset="0"/>
                <a:ea typeface="Arial" pitchFamily="34" charset="-122"/>
                <a:cs typeface="Arial" pitchFamily="34" charset="-120"/>
              </a:rPr>
              <a:t>FAILURE TRIAGE</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2304288"/>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84048">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THE SYMPTOM</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USUAL CAUSE</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tc>
                  <a:txBody>
                    <a:bodyPr/>
                    <a:lstStyle/>
                    <a:p>
                      <a:pPr marL="0" indent="0">
                        <a:buNone/>
                      </a:pPr>
                      <a:r>
                        <a:rPr lang="en-US" sz="950" b="1" kern="0" spc="100" dirty="0">
                          <a:solidFill>
                            <a:srgbClr val="FFFFFF"/>
                          </a:solidFill>
                          <a:latin typeface="Arial" pitchFamily="34" charset="0"/>
                          <a:ea typeface="Arial" pitchFamily="34" charset="-122"/>
                          <a:cs typeface="Arial" pitchFamily="34" charset="-120"/>
                        </a:rPr>
                        <a:t>THE FIX</a:t>
                      </a:r>
                      <a:endParaRPr lang="en-US" sz="9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The face changes mid-shot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Face is too small in frame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Tighten the shot or reduce the motion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Hands deform</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Fast or complex action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Simplify the action, slow the move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The product changes</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No product reference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Lock with a reference image, not words</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Camera moves the wrong way</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Contradictory phrasing</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One motion, one action, one sentence</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dirty="0">
                          <a:solidFill>
                            <a:srgbClr val="1F1F1F"/>
                          </a:solidFill>
                          <a:latin typeface="Arial" pitchFamily="34" charset="0"/>
                          <a:ea typeface="Arial" pitchFamily="34" charset="-122"/>
                          <a:cs typeface="Arial" pitchFamily="34" charset="-120"/>
                        </a:rPr>
                        <a:t>The shot feels dead</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No environment motion</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marL="0" indent="0">
                        <a:buNone/>
                      </a:pPr>
                      <a:r>
                        <a:rPr lang="en-US" sz="1050" dirty="0">
                          <a:solidFill>
                            <a:srgbClr val="1F1F1F"/>
                          </a:solidFill>
                          <a:latin typeface="Arial" pitchFamily="34" charset="0"/>
                          <a:ea typeface="Arial" pitchFamily="34" charset="-122"/>
                          <a:cs typeface="Arial" pitchFamily="34" charset="-120"/>
                        </a:rPr>
                        <a:t>Add micro-motion: steam, curtain, light</a:t>
                      </a:r>
                      <a:endParaRPr lang="en-US" sz="1050" dirty="0">
                        <a:latin typeface="Arial" charset="0"/>
                        <a:ea typeface="Arial" charset="0"/>
                        <a:cs typeface="Arial" charset="0"/>
                      </a:endParaRPr>
                    </a:p>
                  </a:txBody>
                  <a:tcPr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57200" y="3904488"/>
            <a:ext cx="8229600" cy="457200"/>
          </a:xfrm>
          <a:prstGeom prst="rect">
            <a:avLst/>
          </a:prstGeom>
          <a:noFill/>
          <a:ln/>
        </p:spPr>
        <p:txBody>
          <a:bodyPr wrap="square" lIns="0" tIns="0" rIns="0" bIns="0" rtlCol="0" anchor="t"/>
          <a:lstStyle/>
          <a:p>
            <a:pPr marL="0" indent="0">
              <a:buNone/>
            </a:pPr>
            <a:r>
              <a:rPr lang="en-US" sz="1150" b="1" i="1" dirty="0">
                <a:solidFill>
                  <a:srgbClr val="0A0A0A"/>
                </a:solidFill>
                <a:latin typeface="Arial" pitchFamily="34" charset="0"/>
                <a:ea typeface="Arial" pitchFamily="34" charset="-122"/>
                <a:cs typeface="Arial" pitchFamily="34" charset="-120"/>
              </a:rPr>
              <a:t>Almost every video failure is an image failure that was not caught in Module 02.</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2106</TotalTime>
  <Words>2720</Words>
  <Application>Microsoft Macintosh PowerPoint</Application>
  <PresentationFormat>On-screen Show (16:9)</PresentationFormat>
  <Paragraphs>413</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Production Workflow</dc:title>
  <dc:subject>PptxGenJS Presentation</dc:subject>
  <dc:creator>AAST — Media Management</dc:creator>
  <cp:lastModifiedBy>Rana Khogeer</cp:lastModifiedBy>
  <cp:revision>4</cp:revision>
  <dcterms:created xsi:type="dcterms:W3CDTF">2026-08-21T11:37:19Z</dcterms:created>
  <dcterms:modified xsi:type="dcterms:W3CDTF">2026-08-27T20:50:29Z</dcterms:modified>
</cp:coreProperties>
</file>